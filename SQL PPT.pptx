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61" r:id="rId3"/>
    <p:sldId id="281" r:id="rId4"/>
    <p:sldId id="263" r:id="rId5"/>
    <p:sldId id="265" r:id="rId6"/>
    <p:sldId id="264" r:id="rId7"/>
    <p:sldId id="299"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 id="316" r:id="rId25"/>
    <p:sldId id="317" r:id="rId26"/>
    <p:sldId id="318" r:id="rId27"/>
    <p:sldId id="319" r:id="rId28"/>
    <p:sldId id="259"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40A8DB-1CCA-4145-8942-C9D3BA5C2C9D}" v="153" dt="2025-11-25T10:46:57.1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3374" autoAdjust="0"/>
  </p:normalViewPr>
  <p:slideViewPr>
    <p:cSldViewPr snapToGrid="0">
      <p:cViewPr varScale="1">
        <p:scale>
          <a:sx n="69" d="100"/>
          <a:sy n="69" d="100"/>
        </p:scale>
        <p:origin x="6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t>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2776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4" name="TextBox 3">
            <a:extLst>
              <a:ext uri="{FF2B5EF4-FFF2-40B4-BE49-F238E27FC236}">
                <a16:creationId xmlns:a16="http://schemas.microsoft.com/office/drawing/2014/main" id="{EBCC5244-CD1C-B957-E40D-E5D18679EF2B}"/>
              </a:ext>
            </a:extLst>
          </p:cNvPr>
          <p:cNvSpPr txBox="1"/>
          <p:nvPr/>
        </p:nvSpPr>
        <p:spPr>
          <a:xfrm>
            <a:off x="3408218" y="3872144"/>
            <a:ext cx="5615709"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Employment Management System</a:t>
            </a:r>
          </a:p>
        </p:txBody>
      </p:sp>
      <p:sp>
        <p:nvSpPr>
          <p:cNvPr id="2" name="TextBox 1">
            <a:extLst>
              <a:ext uri="{FF2B5EF4-FFF2-40B4-BE49-F238E27FC236}">
                <a16:creationId xmlns:a16="http://schemas.microsoft.com/office/drawing/2014/main" id="{AAC051FF-DD5A-4CE5-B29F-E9425715B3B7}"/>
              </a:ext>
            </a:extLst>
          </p:cNvPr>
          <p:cNvSpPr txBox="1"/>
          <p:nvPr/>
        </p:nvSpPr>
        <p:spPr>
          <a:xfrm>
            <a:off x="8691418" y="4938803"/>
            <a:ext cx="5001894" cy="70788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Presented By:</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      G. Naga Dharani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C60B-D09B-73C1-83C7-5B8D1B695E16}"/>
              </a:ext>
            </a:extLst>
          </p:cNvPr>
          <p:cNvSpPr>
            <a:spLocks noGrp="1"/>
          </p:cNvSpPr>
          <p:nvPr>
            <p:ph type="title"/>
          </p:nvPr>
        </p:nvSpPr>
        <p:spPr>
          <a:xfrm>
            <a:off x="846803" y="355899"/>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D0E2DCD9-A327-3BE0-5E99-2B80AB2BF98B}"/>
              </a:ext>
            </a:extLst>
          </p:cNvPr>
          <p:cNvSpPr>
            <a:spLocks noGrp="1"/>
          </p:cNvSpPr>
          <p:nvPr>
            <p:ph type="body" idx="1"/>
          </p:nvPr>
        </p:nvSpPr>
        <p:spPr>
          <a:xfrm>
            <a:off x="837707" y="1380941"/>
            <a:ext cx="10498393" cy="4558041"/>
          </a:xfrm>
        </p:spPr>
        <p:txBody>
          <a:bodyPr>
            <a:noAutofit/>
          </a:bodyPr>
          <a:lstStyle/>
          <a:p>
            <a:pPr algn="just"/>
            <a:r>
              <a:rPr lang="en-US" sz="2000" dirty="0">
                <a:latin typeface="Times New Roman" panose="02020603050405020304" pitchFamily="18" charset="0"/>
                <a:cs typeface="Times New Roman" panose="02020603050405020304" pitchFamily="18" charset="0"/>
              </a:rPr>
              <a:t>The Employment Management domain requires efficient handling of employee records, departments, job roles, attendance, payroll, and performance evaluations.</a:t>
            </a:r>
          </a:p>
          <a:p>
            <a:pPr algn="just"/>
            <a:r>
              <a:rPr lang="en-US" sz="2000" dirty="0">
                <a:latin typeface="Times New Roman" panose="02020603050405020304" pitchFamily="18" charset="0"/>
                <a:cs typeface="Times New Roman" panose="02020603050405020304" pitchFamily="18" charset="0"/>
              </a:rPr>
              <a:t>Proper data management helps organizations streamline HR operations, ensure compliance, reduce manual errors, and improve workforce productivity.</a:t>
            </a:r>
          </a:p>
          <a:p>
            <a:pPr algn="just"/>
            <a:r>
              <a:rPr lang="en-US" sz="2000" dirty="0">
                <a:latin typeface="Times New Roman" panose="02020603050405020304" pitchFamily="18" charset="0"/>
                <a:cs typeface="Times New Roman" panose="02020603050405020304" pitchFamily="18" charset="0"/>
              </a:rPr>
              <a:t>This project simulates a complete Employment Management System with interconnected entities such as employees, departments, salaries, job positions, and attendance logs.</a:t>
            </a:r>
          </a:p>
          <a:p>
            <a:pPr algn="just"/>
            <a:r>
              <a:rPr lang="en-US" sz="2000" dirty="0">
                <a:latin typeface="Times New Roman" panose="02020603050405020304" pitchFamily="18" charset="0"/>
                <a:cs typeface="Times New Roman" panose="02020603050405020304" pitchFamily="18" charset="0"/>
              </a:rPr>
              <a:t>It offers hands-on experience in understanding organizational workflows and employee lifecycle data.</a:t>
            </a:r>
          </a:p>
          <a:p>
            <a:pPr algn="just"/>
            <a:r>
              <a:rPr lang="en-US" sz="2000" dirty="0">
                <a:latin typeface="Times New Roman" panose="02020603050405020304" pitchFamily="18" charset="0"/>
                <a:cs typeface="Times New Roman" panose="02020603050405020304" pitchFamily="18" charset="0"/>
              </a:rPr>
              <a:t>Students will use SQL to store, manage, and analyze employee-related information, enabling valuable administrative and managerial insights.</a:t>
            </a:r>
          </a:p>
          <a:p>
            <a:pPr algn="just"/>
            <a:r>
              <a:rPr lang="en-US" sz="2000" dirty="0">
                <a:latin typeface="Times New Roman" panose="02020603050405020304" pitchFamily="18" charset="0"/>
                <a:cs typeface="Times New Roman" panose="02020603050405020304" pitchFamily="18" charset="0"/>
              </a:rPr>
              <a:t>The goal is to enhance decision-making, automate HR processes, and improve organizational efficiency through structured data analysis.</a:t>
            </a:r>
            <a:endParaRPr lang="en-IN" sz="2000" dirty="0">
              <a:latin typeface="Times New Roman" panose="02020603050405020304" pitchFamily="18" charset="0"/>
              <a:cs typeface="Times New Roman" panose="02020603050405020304" pitchFamily="18" charset="0"/>
            </a:endParaRPr>
          </a:p>
        </p:txBody>
      </p:sp>
      <p:sp>
        <p:nvSpPr>
          <p:cNvPr id="5" name="AutoShape 4" descr="IMDb Yellow Logo on Transparent Background">
            <a:extLst>
              <a:ext uri="{FF2B5EF4-FFF2-40B4-BE49-F238E27FC236}">
                <a16:creationId xmlns:a16="http://schemas.microsoft.com/office/drawing/2014/main"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859894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757C9-6048-86FD-D462-6C4061560167}"/>
              </a:ext>
            </a:extLst>
          </p:cNvPr>
          <p:cNvSpPr>
            <a:spLocks noGrp="1"/>
          </p:cNvSpPr>
          <p:nvPr>
            <p:ph type="title"/>
          </p:nvPr>
        </p:nvSpPr>
        <p:spPr>
          <a:xfrm>
            <a:off x="4738254" y="164641"/>
            <a:ext cx="1662546" cy="989759"/>
          </a:xfrm>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T</a:t>
            </a:r>
            <a:r>
              <a:rPr lang="en-IN" sz="4000" b="1" dirty="0" err="1">
                <a:solidFill>
                  <a:srgbClr val="FF0000"/>
                </a:solidFill>
                <a:latin typeface="Times New Roman" panose="02020603050405020304" pitchFamily="18" charset="0"/>
                <a:cs typeface="Times New Roman" panose="02020603050405020304" pitchFamily="18" charset="0"/>
              </a:rPr>
              <a:t>ables</a:t>
            </a:r>
            <a:endParaRPr lang="en-IN" sz="4000" b="1" dirty="0">
              <a:solidFill>
                <a:srgbClr val="FF0000"/>
              </a:solidFill>
              <a:latin typeface="Times New Roman" panose="02020603050405020304" pitchFamily="18" charset="0"/>
              <a:cs typeface="Times New Roman" panose="02020603050405020304" pitchFamily="18" charset="0"/>
            </a:endParaRPr>
          </a:p>
        </p:txBody>
      </p:sp>
      <p:sp>
        <p:nvSpPr>
          <p:cNvPr id="5" name="AutoShape 4" descr="IMDb Yellow Logo on Transparent Background">
            <a:extLst>
              <a:ext uri="{FF2B5EF4-FFF2-40B4-BE49-F238E27FC236}">
                <a16:creationId xmlns:a16="http://schemas.microsoft.com/office/drawing/2014/main"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FB8AB2FB-DA97-AFC6-992F-D72CF3B130F9}"/>
              </a:ext>
            </a:extLst>
          </p:cNvPr>
          <p:cNvPicPr>
            <a:picLocks noChangeAspect="1"/>
          </p:cNvPicPr>
          <p:nvPr/>
        </p:nvPicPr>
        <p:blipFill>
          <a:blip r:embed="rId2"/>
          <a:stretch>
            <a:fillRect/>
          </a:stretch>
        </p:blipFill>
        <p:spPr>
          <a:xfrm>
            <a:off x="1048038" y="1621368"/>
            <a:ext cx="4276725" cy="1762125"/>
          </a:xfrm>
          <a:prstGeom prst="rect">
            <a:avLst/>
          </a:prstGeom>
        </p:spPr>
      </p:pic>
      <p:sp>
        <p:nvSpPr>
          <p:cNvPr id="7" name="TextBox 6">
            <a:extLst>
              <a:ext uri="{FF2B5EF4-FFF2-40B4-BE49-F238E27FC236}">
                <a16:creationId xmlns:a16="http://schemas.microsoft.com/office/drawing/2014/main" id="{6C2466CC-FCFE-D14E-B0DB-6CF28D4054E7}"/>
              </a:ext>
            </a:extLst>
          </p:cNvPr>
          <p:cNvSpPr txBox="1"/>
          <p:nvPr/>
        </p:nvSpPr>
        <p:spPr>
          <a:xfrm>
            <a:off x="1431635" y="1057187"/>
            <a:ext cx="3676073"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Job Department</a:t>
            </a:r>
          </a:p>
        </p:txBody>
      </p:sp>
      <p:pic>
        <p:nvPicPr>
          <p:cNvPr id="9" name="Picture 8">
            <a:extLst>
              <a:ext uri="{FF2B5EF4-FFF2-40B4-BE49-F238E27FC236}">
                <a16:creationId xmlns:a16="http://schemas.microsoft.com/office/drawing/2014/main" id="{B1177C75-8CB9-16C4-634F-B51989FED6DC}"/>
              </a:ext>
            </a:extLst>
          </p:cNvPr>
          <p:cNvPicPr>
            <a:picLocks noChangeAspect="1"/>
          </p:cNvPicPr>
          <p:nvPr/>
        </p:nvPicPr>
        <p:blipFill>
          <a:blip r:embed="rId3"/>
          <a:stretch>
            <a:fillRect/>
          </a:stretch>
        </p:blipFill>
        <p:spPr>
          <a:xfrm>
            <a:off x="6400800" y="1626130"/>
            <a:ext cx="4381500" cy="1752600"/>
          </a:xfrm>
          <a:prstGeom prst="rect">
            <a:avLst/>
          </a:prstGeom>
        </p:spPr>
      </p:pic>
      <p:sp>
        <p:nvSpPr>
          <p:cNvPr id="10" name="TextBox 9">
            <a:extLst>
              <a:ext uri="{FF2B5EF4-FFF2-40B4-BE49-F238E27FC236}">
                <a16:creationId xmlns:a16="http://schemas.microsoft.com/office/drawing/2014/main" id="{A7C9BE5A-91DD-3429-C472-CBC8C26C7859}"/>
              </a:ext>
            </a:extLst>
          </p:cNvPr>
          <p:cNvSpPr txBox="1"/>
          <p:nvPr/>
        </p:nvSpPr>
        <p:spPr>
          <a:xfrm>
            <a:off x="7158182" y="1078226"/>
            <a:ext cx="272472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Salary</a:t>
            </a:r>
          </a:p>
        </p:txBody>
      </p:sp>
      <p:pic>
        <p:nvPicPr>
          <p:cNvPr id="11" name="Picture 10">
            <a:extLst>
              <a:ext uri="{FF2B5EF4-FFF2-40B4-BE49-F238E27FC236}">
                <a16:creationId xmlns:a16="http://schemas.microsoft.com/office/drawing/2014/main" id="{6D996182-A01E-854C-5A87-0E8084C7489C}"/>
              </a:ext>
            </a:extLst>
          </p:cNvPr>
          <p:cNvPicPr>
            <a:picLocks noChangeAspect="1"/>
          </p:cNvPicPr>
          <p:nvPr/>
        </p:nvPicPr>
        <p:blipFill>
          <a:blip r:embed="rId4"/>
          <a:stretch>
            <a:fillRect/>
          </a:stretch>
        </p:blipFill>
        <p:spPr>
          <a:xfrm>
            <a:off x="3191164" y="4310305"/>
            <a:ext cx="4572000" cy="2381250"/>
          </a:xfrm>
          <a:prstGeom prst="rect">
            <a:avLst/>
          </a:prstGeom>
        </p:spPr>
      </p:pic>
      <p:sp>
        <p:nvSpPr>
          <p:cNvPr id="12" name="TextBox 11">
            <a:extLst>
              <a:ext uri="{FF2B5EF4-FFF2-40B4-BE49-F238E27FC236}">
                <a16:creationId xmlns:a16="http://schemas.microsoft.com/office/drawing/2014/main" id="{B1379399-9664-ABCE-1BFF-340BB06428B5}"/>
              </a:ext>
            </a:extLst>
          </p:cNvPr>
          <p:cNvSpPr txBox="1"/>
          <p:nvPr/>
        </p:nvSpPr>
        <p:spPr>
          <a:xfrm>
            <a:off x="4532745" y="3715020"/>
            <a:ext cx="297411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Employee</a:t>
            </a:r>
          </a:p>
        </p:txBody>
      </p:sp>
    </p:spTree>
    <p:extLst>
      <p:ext uri="{BB962C8B-B14F-4D97-AF65-F5344CB8AC3E}">
        <p14:creationId xmlns:p14="http://schemas.microsoft.com/office/powerpoint/2010/main" val="3967736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4238673" y="191523"/>
            <a:ext cx="2907890" cy="909136"/>
          </a:xfrm>
        </p:spPr>
        <p:txBody>
          <a:bodyPr>
            <a:norm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Tables</a:t>
            </a:r>
          </a:p>
        </p:txBody>
      </p:sp>
      <p:pic>
        <p:nvPicPr>
          <p:cNvPr id="6" name="Picture 5">
            <a:extLst>
              <a:ext uri="{FF2B5EF4-FFF2-40B4-BE49-F238E27FC236}">
                <a16:creationId xmlns:a16="http://schemas.microsoft.com/office/drawing/2014/main" id="{AE1E5745-0CFB-1714-FEDD-75D9D593D60C}"/>
              </a:ext>
            </a:extLst>
          </p:cNvPr>
          <p:cNvPicPr>
            <a:picLocks noChangeAspect="1"/>
          </p:cNvPicPr>
          <p:nvPr/>
        </p:nvPicPr>
        <p:blipFill>
          <a:blip r:embed="rId2"/>
          <a:stretch>
            <a:fillRect/>
          </a:stretch>
        </p:blipFill>
        <p:spPr>
          <a:xfrm>
            <a:off x="7442488" y="1716232"/>
            <a:ext cx="3790950" cy="1543050"/>
          </a:xfrm>
          <a:prstGeom prst="rect">
            <a:avLst/>
          </a:prstGeom>
        </p:spPr>
      </p:pic>
      <p:pic>
        <p:nvPicPr>
          <p:cNvPr id="7" name="Picture 6">
            <a:extLst>
              <a:ext uri="{FF2B5EF4-FFF2-40B4-BE49-F238E27FC236}">
                <a16:creationId xmlns:a16="http://schemas.microsoft.com/office/drawing/2014/main" id="{B46DF4CF-B249-90C5-EEF4-68E41159B913}"/>
              </a:ext>
            </a:extLst>
          </p:cNvPr>
          <p:cNvPicPr>
            <a:picLocks noChangeAspect="1"/>
          </p:cNvPicPr>
          <p:nvPr/>
        </p:nvPicPr>
        <p:blipFill>
          <a:blip r:embed="rId3"/>
          <a:stretch>
            <a:fillRect/>
          </a:stretch>
        </p:blipFill>
        <p:spPr>
          <a:xfrm>
            <a:off x="1209242" y="1716232"/>
            <a:ext cx="4619625" cy="2095500"/>
          </a:xfrm>
          <a:prstGeom prst="rect">
            <a:avLst/>
          </a:prstGeom>
        </p:spPr>
      </p:pic>
      <p:sp>
        <p:nvSpPr>
          <p:cNvPr id="8" name="TextBox 7">
            <a:extLst>
              <a:ext uri="{FF2B5EF4-FFF2-40B4-BE49-F238E27FC236}">
                <a16:creationId xmlns:a16="http://schemas.microsoft.com/office/drawing/2014/main" id="{5D464DB8-13C4-199D-4F98-B618808132C9}"/>
              </a:ext>
            </a:extLst>
          </p:cNvPr>
          <p:cNvSpPr txBox="1"/>
          <p:nvPr/>
        </p:nvSpPr>
        <p:spPr>
          <a:xfrm>
            <a:off x="1865745" y="1177613"/>
            <a:ext cx="310341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Qualification</a:t>
            </a:r>
          </a:p>
        </p:txBody>
      </p:sp>
      <p:sp>
        <p:nvSpPr>
          <p:cNvPr id="9" name="TextBox 8">
            <a:extLst>
              <a:ext uri="{FF2B5EF4-FFF2-40B4-BE49-F238E27FC236}">
                <a16:creationId xmlns:a16="http://schemas.microsoft.com/office/drawing/2014/main" id="{24AAC1A8-DD28-72BD-4774-08E044830324}"/>
              </a:ext>
            </a:extLst>
          </p:cNvPr>
          <p:cNvSpPr txBox="1"/>
          <p:nvPr/>
        </p:nvSpPr>
        <p:spPr>
          <a:xfrm>
            <a:off x="8125979" y="1254567"/>
            <a:ext cx="2745221"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Leaves</a:t>
            </a:r>
          </a:p>
        </p:txBody>
      </p:sp>
      <p:pic>
        <p:nvPicPr>
          <p:cNvPr id="10" name="Picture 9">
            <a:extLst>
              <a:ext uri="{FF2B5EF4-FFF2-40B4-BE49-F238E27FC236}">
                <a16:creationId xmlns:a16="http://schemas.microsoft.com/office/drawing/2014/main" id="{924B77A5-D068-1F49-A052-28D2AD6C51DB}"/>
              </a:ext>
            </a:extLst>
          </p:cNvPr>
          <p:cNvPicPr>
            <a:picLocks noChangeAspect="1"/>
          </p:cNvPicPr>
          <p:nvPr/>
        </p:nvPicPr>
        <p:blipFill>
          <a:blip r:embed="rId4"/>
          <a:stretch>
            <a:fillRect/>
          </a:stretch>
        </p:blipFill>
        <p:spPr>
          <a:xfrm>
            <a:off x="3886200" y="4156219"/>
            <a:ext cx="4419600" cy="2295525"/>
          </a:xfrm>
          <a:prstGeom prst="rect">
            <a:avLst/>
          </a:prstGeom>
        </p:spPr>
      </p:pic>
      <p:sp>
        <p:nvSpPr>
          <p:cNvPr id="11" name="TextBox 10">
            <a:extLst>
              <a:ext uri="{FF2B5EF4-FFF2-40B4-BE49-F238E27FC236}">
                <a16:creationId xmlns:a16="http://schemas.microsoft.com/office/drawing/2014/main" id="{2CD78E07-0535-5C0E-A78A-82B710E85A6E}"/>
              </a:ext>
            </a:extLst>
          </p:cNvPr>
          <p:cNvSpPr txBox="1"/>
          <p:nvPr/>
        </p:nvSpPr>
        <p:spPr>
          <a:xfrm>
            <a:off x="4717761" y="3644748"/>
            <a:ext cx="2724727"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Payroll</a:t>
            </a:r>
          </a:p>
        </p:txBody>
      </p:sp>
    </p:spTree>
    <p:extLst>
      <p:ext uri="{BB962C8B-B14F-4D97-AF65-F5344CB8AC3E}">
        <p14:creationId xmlns:p14="http://schemas.microsoft.com/office/powerpoint/2010/main" val="399102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9875-408F-AAEB-E616-9F7F913C414D}"/>
              </a:ext>
            </a:extLst>
          </p:cNvPr>
          <p:cNvSpPr>
            <a:spLocks noGrp="1"/>
          </p:cNvSpPr>
          <p:nvPr>
            <p:ph type="title"/>
          </p:nvPr>
        </p:nvSpPr>
        <p:spPr>
          <a:xfrm>
            <a:off x="512505" y="508138"/>
            <a:ext cx="3657623" cy="684068"/>
          </a:xfrm>
        </p:spPr>
        <p:txBody>
          <a:bodyPr>
            <a:no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ER Diagram</a:t>
            </a:r>
          </a:p>
        </p:txBody>
      </p:sp>
      <p:pic>
        <p:nvPicPr>
          <p:cNvPr id="9" name="Picture 8">
            <a:extLst>
              <a:ext uri="{FF2B5EF4-FFF2-40B4-BE49-F238E27FC236}">
                <a16:creationId xmlns:a16="http://schemas.microsoft.com/office/drawing/2014/main" id="{F1D21229-A28E-C0DA-F0DC-08EA28200E3A}"/>
              </a:ext>
            </a:extLst>
          </p:cNvPr>
          <p:cNvPicPr>
            <a:picLocks noChangeAspect="1"/>
          </p:cNvPicPr>
          <p:nvPr/>
        </p:nvPicPr>
        <p:blipFill>
          <a:blip r:embed="rId2"/>
          <a:stretch>
            <a:fillRect/>
          </a:stretch>
        </p:blipFill>
        <p:spPr>
          <a:xfrm>
            <a:off x="4248643" y="0"/>
            <a:ext cx="7240998" cy="6266873"/>
          </a:xfrm>
          <a:prstGeom prst="rect">
            <a:avLst/>
          </a:prstGeom>
        </p:spPr>
      </p:pic>
    </p:spTree>
    <p:extLst>
      <p:ext uri="{BB962C8B-B14F-4D97-AF65-F5344CB8AC3E}">
        <p14:creationId xmlns:p14="http://schemas.microsoft.com/office/powerpoint/2010/main" val="296424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2877-0C48-5832-A3A6-F82C9EE642F6}"/>
              </a:ext>
            </a:extLst>
          </p:cNvPr>
          <p:cNvSpPr>
            <a:spLocks noGrp="1"/>
          </p:cNvSpPr>
          <p:nvPr>
            <p:ph type="title"/>
          </p:nvPr>
        </p:nvSpPr>
        <p:spPr>
          <a:xfrm>
            <a:off x="3544335" y="740717"/>
            <a:ext cx="4371229" cy="823861"/>
          </a:xfrm>
        </p:spPr>
        <p:txBody>
          <a:bodyPr>
            <a:normAutofit fontScale="90000"/>
          </a:bodyPr>
          <a:lstStyle/>
          <a:p>
            <a:pPr algn="ctr"/>
            <a:r>
              <a:rPr lang="en-IN" sz="4000" b="1" dirty="0">
                <a:solidFill>
                  <a:srgbClr val="FF0000"/>
                </a:solidFill>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604F7AAD-AE6C-88DD-3B30-875622509649}"/>
              </a:ext>
            </a:extLst>
          </p:cNvPr>
          <p:cNvSpPr txBox="1"/>
          <p:nvPr/>
        </p:nvSpPr>
        <p:spPr>
          <a:xfrm>
            <a:off x="1293090" y="1745673"/>
            <a:ext cx="9818256" cy="3170099"/>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The objective of this project is to design and implement an Employee Management System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a:t>
            </a:r>
          </a:p>
          <a:p>
            <a:pPr algn="just"/>
            <a:r>
              <a:rPr lang="en-US" sz="2000" dirty="0">
                <a:latin typeface="Times New Roman" panose="02020603050405020304" pitchFamily="18" charset="0"/>
                <a:cs typeface="Times New Roman" panose="02020603050405020304" pitchFamily="18" charset="0"/>
              </a:rPr>
              <a:t>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4322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08F36-4929-C9D6-1446-F378C189DA1F}"/>
              </a:ext>
            </a:extLst>
          </p:cNvPr>
          <p:cNvSpPr>
            <a:spLocks noGrp="1"/>
          </p:cNvSpPr>
          <p:nvPr>
            <p:ph type="title"/>
          </p:nvPr>
        </p:nvSpPr>
        <p:spPr>
          <a:xfrm>
            <a:off x="838200" y="665018"/>
            <a:ext cx="10515600" cy="655781"/>
          </a:xfrm>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EMPLOYEE INSIGHTS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FF8D855-7EAA-798E-670D-3F813E5EB2FC}"/>
              </a:ext>
            </a:extLst>
          </p:cNvPr>
          <p:cNvSpPr txBox="1"/>
          <p:nvPr/>
        </p:nvSpPr>
        <p:spPr>
          <a:xfrm>
            <a:off x="2068944" y="1533765"/>
            <a:ext cx="9411855"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 How many unique employees are currently in the system?</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983868-5AE0-FFE6-D096-0E21DF4102C9}"/>
              </a:ext>
            </a:extLst>
          </p:cNvPr>
          <p:cNvPicPr>
            <a:picLocks noChangeAspect="1"/>
          </p:cNvPicPr>
          <p:nvPr/>
        </p:nvPicPr>
        <p:blipFill>
          <a:blip r:embed="rId2"/>
          <a:stretch>
            <a:fillRect/>
          </a:stretch>
        </p:blipFill>
        <p:spPr>
          <a:xfrm>
            <a:off x="1642341" y="2793172"/>
            <a:ext cx="3751696" cy="779029"/>
          </a:xfrm>
          <a:prstGeom prst="rect">
            <a:avLst/>
          </a:prstGeom>
        </p:spPr>
      </p:pic>
      <p:pic>
        <p:nvPicPr>
          <p:cNvPr id="5" name="Picture 4">
            <a:extLst>
              <a:ext uri="{FF2B5EF4-FFF2-40B4-BE49-F238E27FC236}">
                <a16:creationId xmlns:a16="http://schemas.microsoft.com/office/drawing/2014/main" id="{221B9D1D-E8EE-D13F-005D-34E982FC482A}"/>
              </a:ext>
            </a:extLst>
          </p:cNvPr>
          <p:cNvPicPr>
            <a:picLocks noChangeAspect="1"/>
          </p:cNvPicPr>
          <p:nvPr/>
        </p:nvPicPr>
        <p:blipFill>
          <a:blip r:embed="rId3"/>
          <a:stretch>
            <a:fillRect/>
          </a:stretch>
        </p:blipFill>
        <p:spPr>
          <a:xfrm>
            <a:off x="7276955" y="4153420"/>
            <a:ext cx="2892282" cy="1271577"/>
          </a:xfrm>
          <a:prstGeom prst="rect">
            <a:avLst/>
          </a:prstGeom>
        </p:spPr>
      </p:pic>
    </p:spTree>
    <p:extLst>
      <p:ext uri="{BB962C8B-B14F-4D97-AF65-F5344CB8AC3E}">
        <p14:creationId xmlns:p14="http://schemas.microsoft.com/office/powerpoint/2010/main" val="1638552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CEC4-7C24-0FBD-E9E4-47C57584D476}"/>
              </a:ext>
            </a:extLst>
          </p:cNvPr>
          <p:cNvSpPr>
            <a:spLocks noGrp="1"/>
          </p:cNvSpPr>
          <p:nvPr>
            <p:ph type="title"/>
          </p:nvPr>
        </p:nvSpPr>
        <p:spPr>
          <a:xfrm>
            <a:off x="1671782" y="1140979"/>
            <a:ext cx="9818255" cy="798657"/>
          </a:xfrm>
        </p:spPr>
        <p:txBody>
          <a:bodyPr>
            <a:normAutofit/>
          </a:bodyPr>
          <a:lstStyle/>
          <a:p>
            <a:r>
              <a:rPr lang="en-US" sz="2800" dirty="0">
                <a:latin typeface="Times New Roman" panose="02020603050405020304" pitchFamily="18" charset="0"/>
                <a:cs typeface="Times New Roman" panose="02020603050405020304" pitchFamily="18" charset="0"/>
              </a:rPr>
              <a:t>2. Which departments have the highest number of employees?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2BEAEE9-C2B9-6E61-7F96-CB174241A498}"/>
              </a:ext>
            </a:extLst>
          </p:cNvPr>
          <p:cNvPicPr>
            <a:picLocks noChangeAspect="1"/>
          </p:cNvPicPr>
          <p:nvPr/>
        </p:nvPicPr>
        <p:blipFill>
          <a:blip r:embed="rId2"/>
          <a:stretch>
            <a:fillRect/>
          </a:stretch>
        </p:blipFill>
        <p:spPr>
          <a:xfrm>
            <a:off x="1385455" y="2241693"/>
            <a:ext cx="3914775" cy="1960851"/>
          </a:xfrm>
          <a:prstGeom prst="rect">
            <a:avLst/>
          </a:prstGeom>
        </p:spPr>
      </p:pic>
      <p:pic>
        <p:nvPicPr>
          <p:cNvPr id="4" name="Picture 3">
            <a:extLst>
              <a:ext uri="{FF2B5EF4-FFF2-40B4-BE49-F238E27FC236}">
                <a16:creationId xmlns:a16="http://schemas.microsoft.com/office/drawing/2014/main" id="{A037C3D5-BCF0-BD38-3A5C-5C516D483B31}"/>
              </a:ext>
            </a:extLst>
          </p:cNvPr>
          <p:cNvPicPr>
            <a:picLocks noChangeAspect="1"/>
          </p:cNvPicPr>
          <p:nvPr/>
        </p:nvPicPr>
        <p:blipFill>
          <a:blip r:embed="rId3"/>
          <a:stretch>
            <a:fillRect/>
          </a:stretch>
        </p:blipFill>
        <p:spPr>
          <a:xfrm>
            <a:off x="7053985" y="4023302"/>
            <a:ext cx="2609850" cy="2228850"/>
          </a:xfrm>
          <a:prstGeom prst="rect">
            <a:avLst/>
          </a:prstGeom>
        </p:spPr>
      </p:pic>
    </p:spTree>
    <p:extLst>
      <p:ext uri="{BB962C8B-B14F-4D97-AF65-F5344CB8AC3E}">
        <p14:creationId xmlns:p14="http://schemas.microsoft.com/office/powerpoint/2010/main" val="4001749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F11A-1A45-1954-8EFF-62A7C7C69D05}"/>
              </a:ext>
            </a:extLst>
          </p:cNvPr>
          <p:cNvSpPr>
            <a:spLocks noGrp="1"/>
          </p:cNvSpPr>
          <p:nvPr>
            <p:ph type="title"/>
          </p:nvPr>
        </p:nvSpPr>
        <p:spPr>
          <a:xfrm>
            <a:off x="2537691" y="1163781"/>
            <a:ext cx="6652491" cy="563852"/>
          </a:xfrm>
        </p:spPr>
        <p:txBody>
          <a:bodyPr>
            <a:normAutofit/>
          </a:bodyPr>
          <a:lstStyle/>
          <a:p>
            <a:r>
              <a:rPr lang="en-US" sz="2800" dirty="0">
                <a:latin typeface="Times New Roman" panose="02020603050405020304" pitchFamily="18" charset="0"/>
                <a:cs typeface="Times New Roman" panose="02020603050405020304" pitchFamily="18" charset="0"/>
              </a:rPr>
              <a:t>3.What is the average salary per department?</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88FF80C-1121-B7D4-A395-1E50F99280FB}"/>
              </a:ext>
            </a:extLst>
          </p:cNvPr>
          <p:cNvPicPr>
            <a:picLocks noChangeAspect="1"/>
          </p:cNvPicPr>
          <p:nvPr/>
        </p:nvPicPr>
        <p:blipFill>
          <a:blip r:embed="rId2"/>
          <a:stretch>
            <a:fillRect/>
          </a:stretch>
        </p:blipFill>
        <p:spPr>
          <a:xfrm>
            <a:off x="7625339" y="3429001"/>
            <a:ext cx="2543897" cy="2541876"/>
          </a:xfrm>
          <a:prstGeom prst="rect">
            <a:avLst/>
          </a:prstGeom>
        </p:spPr>
      </p:pic>
      <p:pic>
        <p:nvPicPr>
          <p:cNvPr id="4" name="Picture 3">
            <a:extLst>
              <a:ext uri="{FF2B5EF4-FFF2-40B4-BE49-F238E27FC236}">
                <a16:creationId xmlns:a16="http://schemas.microsoft.com/office/drawing/2014/main" id="{CE9F35CC-0C5C-ECA2-E853-33B109FBB030}"/>
              </a:ext>
            </a:extLst>
          </p:cNvPr>
          <p:cNvPicPr>
            <a:picLocks noChangeAspect="1"/>
          </p:cNvPicPr>
          <p:nvPr/>
        </p:nvPicPr>
        <p:blipFill>
          <a:blip r:embed="rId3"/>
          <a:stretch>
            <a:fillRect/>
          </a:stretch>
        </p:blipFill>
        <p:spPr>
          <a:xfrm>
            <a:off x="1758805" y="2248910"/>
            <a:ext cx="3662940" cy="2286145"/>
          </a:xfrm>
          <a:prstGeom prst="rect">
            <a:avLst/>
          </a:prstGeom>
        </p:spPr>
      </p:pic>
    </p:spTree>
    <p:extLst>
      <p:ext uri="{BB962C8B-B14F-4D97-AF65-F5344CB8AC3E}">
        <p14:creationId xmlns:p14="http://schemas.microsoft.com/office/powerpoint/2010/main" val="2359643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82E2D-D8A0-396A-C7EB-4519AFCB11B2}"/>
              </a:ext>
            </a:extLst>
          </p:cNvPr>
          <p:cNvSpPr>
            <a:spLocks noGrp="1"/>
          </p:cNvSpPr>
          <p:nvPr>
            <p:ph type="title"/>
          </p:nvPr>
        </p:nvSpPr>
        <p:spPr>
          <a:xfrm>
            <a:off x="2436091" y="1163782"/>
            <a:ext cx="10515600" cy="480724"/>
          </a:xfrm>
        </p:spPr>
        <p:txBody>
          <a:bodyPr>
            <a:normAutofit/>
          </a:bodyPr>
          <a:lstStyle/>
          <a:p>
            <a:r>
              <a:rPr lang="en-US" sz="2800" dirty="0">
                <a:latin typeface="Times New Roman" panose="02020603050405020304" pitchFamily="18" charset="0"/>
                <a:cs typeface="Times New Roman" panose="02020603050405020304" pitchFamily="18" charset="0"/>
              </a:rPr>
              <a:t>4. Who are the top 5 highest-paid employees?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C5D7B89-6275-6359-527A-7ACBCE8FEC5C}"/>
              </a:ext>
            </a:extLst>
          </p:cNvPr>
          <p:cNvPicPr>
            <a:picLocks noChangeAspect="1"/>
          </p:cNvPicPr>
          <p:nvPr/>
        </p:nvPicPr>
        <p:blipFill>
          <a:blip r:embed="rId2"/>
          <a:stretch>
            <a:fillRect/>
          </a:stretch>
        </p:blipFill>
        <p:spPr>
          <a:xfrm>
            <a:off x="1358178" y="2294803"/>
            <a:ext cx="4543425" cy="1667597"/>
          </a:xfrm>
          <a:prstGeom prst="rect">
            <a:avLst/>
          </a:prstGeom>
        </p:spPr>
      </p:pic>
      <p:pic>
        <p:nvPicPr>
          <p:cNvPr id="4" name="Picture 3">
            <a:extLst>
              <a:ext uri="{FF2B5EF4-FFF2-40B4-BE49-F238E27FC236}">
                <a16:creationId xmlns:a16="http://schemas.microsoft.com/office/drawing/2014/main" id="{775DF487-C242-4E15-0401-4DCA3CE1BA06}"/>
              </a:ext>
            </a:extLst>
          </p:cNvPr>
          <p:cNvPicPr>
            <a:picLocks noChangeAspect="1"/>
          </p:cNvPicPr>
          <p:nvPr/>
        </p:nvPicPr>
        <p:blipFill>
          <a:blip r:embed="rId3"/>
          <a:stretch>
            <a:fillRect/>
          </a:stretch>
        </p:blipFill>
        <p:spPr>
          <a:xfrm>
            <a:off x="7693891" y="4137892"/>
            <a:ext cx="3135024" cy="1879166"/>
          </a:xfrm>
          <a:prstGeom prst="rect">
            <a:avLst/>
          </a:prstGeom>
        </p:spPr>
      </p:pic>
    </p:spTree>
    <p:extLst>
      <p:ext uri="{BB962C8B-B14F-4D97-AF65-F5344CB8AC3E}">
        <p14:creationId xmlns:p14="http://schemas.microsoft.com/office/powerpoint/2010/main" val="752799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0294D-EBD1-F12D-E03B-A8B10876E995}"/>
              </a:ext>
            </a:extLst>
          </p:cNvPr>
          <p:cNvSpPr>
            <a:spLocks noGrp="1"/>
          </p:cNvSpPr>
          <p:nvPr>
            <p:ph type="title"/>
          </p:nvPr>
        </p:nvSpPr>
        <p:spPr>
          <a:xfrm>
            <a:off x="2094345" y="1173019"/>
            <a:ext cx="8499765" cy="628506"/>
          </a:xfrm>
        </p:spPr>
        <p:txBody>
          <a:bodyPr>
            <a:normAutofit fontScale="90000"/>
          </a:bodyPr>
          <a:lstStyle/>
          <a:p>
            <a:r>
              <a:rPr lang="en-US" sz="2800" dirty="0">
                <a:latin typeface="Times New Roman" panose="02020603050405020304" pitchFamily="18" charset="0"/>
                <a:cs typeface="Times New Roman" panose="02020603050405020304" pitchFamily="18" charset="0"/>
              </a:rPr>
              <a:t>5.What is the total salary expenditure across the company?</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FFBA2CB-434D-C2E7-9B3F-2B6B12417478}"/>
              </a:ext>
            </a:extLst>
          </p:cNvPr>
          <p:cNvPicPr>
            <a:picLocks noChangeAspect="1"/>
          </p:cNvPicPr>
          <p:nvPr/>
        </p:nvPicPr>
        <p:blipFill>
          <a:blip r:embed="rId2"/>
          <a:stretch>
            <a:fillRect/>
          </a:stretch>
        </p:blipFill>
        <p:spPr>
          <a:xfrm>
            <a:off x="1476375" y="2490787"/>
            <a:ext cx="4619625" cy="806595"/>
          </a:xfrm>
          <a:prstGeom prst="rect">
            <a:avLst/>
          </a:prstGeom>
        </p:spPr>
      </p:pic>
      <p:pic>
        <p:nvPicPr>
          <p:cNvPr id="4" name="Picture 3">
            <a:extLst>
              <a:ext uri="{FF2B5EF4-FFF2-40B4-BE49-F238E27FC236}">
                <a16:creationId xmlns:a16="http://schemas.microsoft.com/office/drawing/2014/main" id="{905D7653-36F3-E4DA-252F-4497E04A7ADA}"/>
              </a:ext>
            </a:extLst>
          </p:cNvPr>
          <p:cNvPicPr>
            <a:picLocks noChangeAspect="1"/>
          </p:cNvPicPr>
          <p:nvPr/>
        </p:nvPicPr>
        <p:blipFill>
          <a:blip r:embed="rId3"/>
          <a:stretch>
            <a:fillRect/>
          </a:stretch>
        </p:blipFill>
        <p:spPr>
          <a:xfrm>
            <a:off x="7583342" y="3758622"/>
            <a:ext cx="2936875" cy="1025813"/>
          </a:xfrm>
          <a:prstGeom prst="rect">
            <a:avLst/>
          </a:prstGeom>
        </p:spPr>
      </p:pic>
    </p:spTree>
    <p:extLst>
      <p:ext uri="{BB962C8B-B14F-4D97-AF65-F5344CB8AC3E}">
        <p14:creationId xmlns:p14="http://schemas.microsoft.com/office/powerpoint/2010/main" val="3142300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D86B2-1E5D-7129-B1CC-396E1825CEB6}"/>
              </a:ext>
            </a:extLst>
          </p:cNvPr>
          <p:cNvSpPr>
            <a:spLocks noGrp="1"/>
          </p:cNvSpPr>
          <p:nvPr>
            <p:ph type="title"/>
          </p:nvPr>
        </p:nvSpPr>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JOB ROLE AND DEPARTMENT ANALYSIS</a:t>
            </a:r>
            <a:endParaRPr lang="en-IN" sz="40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5F6E15E-C5CD-2151-DCAF-694102FD21D5}"/>
              </a:ext>
            </a:extLst>
          </p:cNvPr>
          <p:cNvSpPr txBox="1"/>
          <p:nvPr/>
        </p:nvSpPr>
        <p:spPr>
          <a:xfrm>
            <a:off x="2078181" y="1810327"/>
            <a:ext cx="865447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6. How many different job roles exist in each department?</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2162B14-7B54-FDDE-8A29-1DB432AF8E71}"/>
              </a:ext>
            </a:extLst>
          </p:cNvPr>
          <p:cNvPicPr>
            <a:picLocks noChangeAspect="1"/>
          </p:cNvPicPr>
          <p:nvPr/>
        </p:nvPicPr>
        <p:blipFill>
          <a:blip r:embed="rId2"/>
          <a:stretch>
            <a:fillRect/>
          </a:stretch>
        </p:blipFill>
        <p:spPr>
          <a:xfrm>
            <a:off x="1585045" y="2793422"/>
            <a:ext cx="3590925" cy="1418360"/>
          </a:xfrm>
          <a:prstGeom prst="rect">
            <a:avLst/>
          </a:prstGeom>
        </p:spPr>
      </p:pic>
      <p:pic>
        <p:nvPicPr>
          <p:cNvPr id="5" name="Picture 4">
            <a:extLst>
              <a:ext uri="{FF2B5EF4-FFF2-40B4-BE49-F238E27FC236}">
                <a16:creationId xmlns:a16="http://schemas.microsoft.com/office/drawing/2014/main" id="{0D9A7C58-60F7-56EC-E877-8ECD151B2D1C}"/>
              </a:ext>
            </a:extLst>
          </p:cNvPr>
          <p:cNvPicPr>
            <a:picLocks noChangeAspect="1"/>
          </p:cNvPicPr>
          <p:nvPr/>
        </p:nvPicPr>
        <p:blipFill>
          <a:blip r:embed="rId3"/>
          <a:stretch>
            <a:fillRect/>
          </a:stretch>
        </p:blipFill>
        <p:spPr>
          <a:xfrm>
            <a:off x="7016031" y="3429001"/>
            <a:ext cx="2628900" cy="2676236"/>
          </a:xfrm>
          <a:prstGeom prst="rect">
            <a:avLst/>
          </a:prstGeom>
        </p:spPr>
      </p:pic>
    </p:spTree>
    <p:extLst>
      <p:ext uri="{BB962C8B-B14F-4D97-AF65-F5344CB8AC3E}">
        <p14:creationId xmlns:p14="http://schemas.microsoft.com/office/powerpoint/2010/main" val="3798064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BE45C-1418-8F4D-2A0D-11E54AEBAF30}"/>
              </a:ext>
            </a:extLst>
          </p:cNvPr>
          <p:cNvSpPr>
            <a:spLocks noGrp="1"/>
          </p:cNvSpPr>
          <p:nvPr>
            <p:ph type="title"/>
          </p:nvPr>
        </p:nvSpPr>
        <p:spPr>
          <a:xfrm>
            <a:off x="1990436" y="1182254"/>
            <a:ext cx="10515600" cy="508433"/>
          </a:xfrm>
        </p:spPr>
        <p:txBody>
          <a:bodyPr>
            <a:normAutofit/>
          </a:bodyPr>
          <a:lstStyle/>
          <a:p>
            <a:r>
              <a:rPr lang="en-US" sz="2800" dirty="0">
                <a:latin typeface="Times New Roman" panose="02020603050405020304" pitchFamily="18" charset="0"/>
                <a:cs typeface="Times New Roman" panose="02020603050405020304" pitchFamily="18" charset="0"/>
              </a:rPr>
              <a:t>7. What is the average salary range per department?</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CFE523A-4F3C-1893-3C12-D4D1C0912A66}"/>
              </a:ext>
            </a:extLst>
          </p:cNvPr>
          <p:cNvPicPr>
            <a:picLocks noChangeAspect="1"/>
          </p:cNvPicPr>
          <p:nvPr/>
        </p:nvPicPr>
        <p:blipFill>
          <a:blip r:embed="rId2"/>
          <a:stretch>
            <a:fillRect/>
          </a:stretch>
        </p:blipFill>
        <p:spPr>
          <a:xfrm>
            <a:off x="1102879" y="2040803"/>
            <a:ext cx="6145357" cy="2314575"/>
          </a:xfrm>
          <a:prstGeom prst="rect">
            <a:avLst/>
          </a:prstGeom>
        </p:spPr>
      </p:pic>
      <p:pic>
        <p:nvPicPr>
          <p:cNvPr id="4" name="Picture 3">
            <a:extLst>
              <a:ext uri="{FF2B5EF4-FFF2-40B4-BE49-F238E27FC236}">
                <a16:creationId xmlns:a16="http://schemas.microsoft.com/office/drawing/2014/main" id="{A6F4BA76-EE83-33D4-7D19-111CFFBDD91A}"/>
              </a:ext>
            </a:extLst>
          </p:cNvPr>
          <p:cNvPicPr>
            <a:picLocks noChangeAspect="1"/>
          </p:cNvPicPr>
          <p:nvPr/>
        </p:nvPicPr>
        <p:blipFill>
          <a:blip r:embed="rId3"/>
          <a:stretch>
            <a:fillRect/>
          </a:stretch>
        </p:blipFill>
        <p:spPr>
          <a:xfrm>
            <a:off x="7976466" y="3977409"/>
            <a:ext cx="3295650" cy="2209800"/>
          </a:xfrm>
          <a:prstGeom prst="rect">
            <a:avLst/>
          </a:prstGeom>
        </p:spPr>
      </p:pic>
    </p:spTree>
    <p:extLst>
      <p:ext uri="{BB962C8B-B14F-4D97-AF65-F5344CB8AC3E}">
        <p14:creationId xmlns:p14="http://schemas.microsoft.com/office/powerpoint/2010/main" val="701649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0935D-4575-AD26-8876-02CBAD049AC9}"/>
              </a:ext>
            </a:extLst>
          </p:cNvPr>
          <p:cNvSpPr>
            <a:spLocks noGrp="1"/>
          </p:cNvSpPr>
          <p:nvPr>
            <p:ph type="title"/>
          </p:nvPr>
        </p:nvSpPr>
        <p:spPr>
          <a:xfrm>
            <a:off x="2685473" y="1320800"/>
            <a:ext cx="6412345" cy="526906"/>
          </a:xfrm>
        </p:spPr>
        <p:txBody>
          <a:bodyPr>
            <a:normAutofit/>
          </a:bodyPr>
          <a:lstStyle/>
          <a:p>
            <a:r>
              <a:rPr lang="en-IN" sz="2800" dirty="0">
                <a:latin typeface="Times New Roman" panose="02020603050405020304" pitchFamily="18" charset="0"/>
                <a:cs typeface="Times New Roman" panose="02020603050405020304" pitchFamily="18" charset="0"/>
              </a:rPr>
              <a:t>8. </a:t>
            </a:r>
            <a:r>
              <a:rPr lang="en-US" sz="2800" dirty="0">
                <a:latin typeface="Times New Roman" panose="02020603050405020304" pitchFamily="18" charset="0"/>
                <a:cs typeface="Times New Roman" panose="02020603050405020304" pitchFamily="18" charset="0"/>
              </a:rPr>
              <a:t>Which job roles offer the highest salary?</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192A053-7E20-C6A3-F5E2-8FADA787753C}"/>
              </a:ext>
            </a:extLst>
          </p:cNvPr>
          <p:cNvPicPr>
            <a:picLocks noChangeAspect="1"/>
          </p:cNvPicPr>
          <p:nvPr/>
        </p:nvPicPr>
        <p:blipFill>
          <a:blip r:embed="rId2"/>
          <a:stretch>
            <a:fillRect/>
          </a:stretch>
        </p:blipFill>
        <p:spPr>
          <a:xfrm>
            <a:off x="1549255" y="2239819"/>
            <a:ext cx="4241945" cy="1355436"/>
          </a:xfrm>
          <a:prstGeom prst="rect">
            <a:avLst/>
          </a:prstGeom>
        </p:spPr>
      </p:pic>
      <p:pic>
        <p:nvPicPr>
          <p:cNvPr id="4" name="Picture 3">
            <a:extLst>
              <a:ext uri="{FF2B5EF4-FFF2-40B4-BE49-F238E27FC236}">
                <a16:creationId xmlns:a16="http://schemas.microsoft.com/office/drawing/2014/main" id="{DFFE95E0-0FB4-3772-3E13-0121667F069F}"/>
              </a:ext>
            </a:extLst>
          </p:cNvPr>
          <p:cNvPicPr>
            <a:picLocks noChangeAspect="1"/>
          </p:cNvPicPr>
          <p:nvPr/>
        </p:nvPicPr>
        <p:blipFill>
          <a:blip r:embed="rId3"/>
          <a:stretch>
            <a:fillRect/>
          </a:stretch>
        </p:blipFill>
        <p:spPr>
          <a:xfrm>
            <a:off x="6827693" y="3595255"/>
            <a:ext cx="2914650" cy="2495550"/>
          </a:xfrm>
          <a:prstGeom prst="rect">
            <a:avLst/>
          </a:prstGeom>
        </p:spPr>
      </p:pic>
    </p:spTree>
    <p:extLst>
      <p:ext uri="{BB962C8B-B14F-4D97-AF65-F5344CB8AC3E}">
        <p14:creationId xmlns:p14="http://schemas.microsoft.com/office/powerpoint/2010/main" val="501924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FBF6-6CBF-8FA0-A54A-10EF491E0400}"/>
              </a:ext>
            </a:extLst>
          </p:cNvPr>
          <p:cNvSpPr>
            <a:spLocks noGrp="1"/>
          </p:cNvSpPr>
          <p:nvPr>
            <p:ph type="title"/>
          </p:nvPr>
        </p:nvSpPr>
        <p:spPr>
          <a:xfrm>
            <a:off x="1881908" y="1173017"/>
            <a:ext cx="8998527" cy="730106"/>
          </a:xfrm>
        </p:spPr>
        <p:txBody>
          <a:bodyPr>
            <a:normAutofit fontScale="90000"/>
          </a:bodyPr>
          <a:lstStyle/>
          <a:p>
            <a:r>
              <a:rPr lang="en-IN" sz="2800" dirty="0">
                <a:latin typeface="Times New Roman" panose="02020603050405020304" pitchFamily="18" charset="0"/>
                <a:cs typeface="Times New Roman" panose="02020603050405020304" pitchFamily="18" charset="0"/>
              </a:rPr>
              <a:t>9. </a:t>
            </a:r>
            <a:r>
              <a:rPr lang="en-US" sz="2800" dirty="0">
                <a:latin typeface="Times New Roman" panose="02020603050405020304" pitchFamily="18" charset="0"/>
                <a:cs typeface="Times New Roman" panose="02020603050405020304" pitchFamily="18" charset="0"/>
              </a:rPr>
              <a:t>Which departments have the highest total salary allocation?</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EC299B1-E1F0-8CFE-BB8F-DCAE01CBDA0D}"/>
              </a:ext>
            </a:extLst>
          </p:cNvPr>
          <p:cNvPicPr>
            <a:picLocks noChangeAspect="1"/>
          </p:cNvPicPr>
          <p:nvPr/>
        </p:nvPicPr>
        <p:blipFill>
          <a:blip r:embed="rId2"/>
          <a:stretch>
            <a:fillRect/>
          </a:stretch>
        </p:blipFill>
        <p:spPr>
          <a:xfrm>
            <a:off x="1716232" y="2244435"/>
            <a:ext cx="3771900" cy="1371600"/>
          </a:xfrm>
          <a:prstGeom prst="rect">
            <a:avLst/>
          </a:prstGeom>
        </p:spPr>
      </p:pic>
      <p:pic>
        <p:nvPicPr>
          <p:cNvPr id="4" name="Picture 3">
            <a:extLst>
              <a:ext uri="{FF2B5EF4-FFF2-40B4-BE49-F238E27FC236}">
                <a16:creationId xmlns:a16="http://schemas.microsoft.com/office/drawing/2014/main" id="{728D3C90-8EEB-4228-17AB-D2FAF7165B6C}"/>
              </a:ext>
            </a:extLst>
          </p:cNvPr>
          <p:cNvPicPr>
            <a:picLocks noChangeAspect="1"/>
          </p:cNvPicPr>
          <p:nvPr/>
        </p:nvPicPr>
        <p:blipFill>
          <a:blip r:embed="rId3"/>
          <a:stretch>
            <a:fillRect/>
          </a:stretch>
        </p:blipFill>
        <p:spPr>
          <a:xfrm>
            <a:off x="7214610" y="3616035"/>
            <a:ext cx="2197245" cy="2303895"/>
          </a:xfrm>
          <a:prstGeom prst="rect">
            <a:avLst/>
          </a:prstGeom>
        </p:spPr>
      </p:pic>
    </p:spTree>
    <p:extLst>
      <p:ext uri="{BB962C8B-B14F-4D97-AF65-F5344CB8AC3E}">
        <p14:creationId xmlns:p14="http://schemas.microsoft.com/office/powerpoint/2010/main" val="255314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04BE8-DCCB-786C-C26F-1130F09E22D0}"/>
              </a:ext>
            </a:extLst>
          </p:cNvPr>
          <p:cNvSpPr>
            <a:spLocks noGrp="1"/>
          </p:cNvSpPr>
          <p:nvPr>
            <p:ph type="title"/>
          </p:nvPr>
        </p:nvSpPr>
        <p:spPr>
          <a:xfrm>
            <a:off x="838200" y="695974"/>
            <a:ext cx="10515600" cy="789420"/>
          </a:xfrm>
        </p:spPr>
        <p:txBody>
          <a:bodyPr>
            <a:normAutofit/>
          </a:bodyPr>
          <a:lstStyle/>
          <a:p>
            <a:r>
              <a:rPr lang="en-IN" sz="4000" b="1" dirty="0">
                <a:solidFill>
                  <a:srgbClr val="FF0000"/>
                </a:solidFill>
                <a:latin typeface="Times New Roman" panose="02020603050405020304" pitchFamily="18" charset="0"/>
                <a:cs typeface="Times New Roman" panose="02020603050405020304" pitchFamily="18" charset="0"/>
              </a:rPr>
              <a:t>QUALIFICATION AND SKILLS ANALYSIS</a:t>
            </a:r>
          </a:p>
        </p:txBody>
      </p:sp>
      <p:sp>
        <p:nvSpPr>
          <p:cNvPr id="3" name="TextBox 2">
            <a:extLst>
              <a:ext uri="{FF2B5EF4-FFF2-40B4-BE49-F238E27FC236}">
                <a16:creationId xmlns:a16="http://schemas.microsoft.com/office/drawing/2014/main" id="{718FEC32-E8CE-B578-84B0-B817D4EB2CAA}"/>
              </a:ext>
            </a:extLst>
          </p:cNvPr>
          <p:cNvSpPr txBox="1"/>
          <p:nvPr/>
        </p:nvSpPr>
        <p:spPr>
          <a:xfrm>
            <a:off x="1440873" y="1835151"/>
            <a:ext cx="918671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10.How many employees have at least one qualification listed?</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06B9AD5-50EE-5128-0D08-EC05D93319B1}"/>
              </a:ext>
            </a:extLst>
          </p:cNvPr>
          <p:cNvPicPr>
            <a:picLocks noChangeAspect="1"/>
          </p:cNvPicPr>
          <p:nvPr/>
        </p:nvPicPr>
        <p:blipFill>
          <a:blip r:embed="rId2"/>
          <a:stretch>
            <a:fillRect/>
          </a:stretch>
        </p:blipFill>
        <p:spPr>
          <a:xfrm>
            <a:off x="1189759" y="2933699"/>
            <a:ext cx="5600700" cy="789419"/>
          </a:xfrm>
          <a:prstGeom prst="rect">
            <a:avLst/>
          </a:prstGeom>
        </p:spPr>
      </p:pic>
      <p:pic>
        <p:nvPicPr>
          <p:cNvPr id="5" name="Picture 4">
            <a:extLst>
              <a:ext uri="{FF2B5EF4-FFF2-40B4-BE49-F238E27FC236}">
                <a16:creationId xmlns:a16="http://schemas.microsoft.com/office/drawing/2014/main" id="{C5CCDAC8-8AEE-15CA-940C-C28193601F90}"/>
              </a:ext>
            </a:extLst>
          </p:cNvPr>
          <p:cNvPicPr>
            <a:picLocks noChangeAspect="1"/>
          </p:cNvPicPr>
          <p:nvPr/>
        </p:nvPicPr>
        <p:blipFill>
          <a:blip r:embed="rId3"/>
          <a:stretch>
            <a:fillRect/>
          </a:stretch>
        </p:blipFill>
        <p:spPr>
          <a:xfrm>
            <a:off x="6705744" y="4298446"/>
            <a:ext cx="3352656" cy="1074160"/>
          </a:xfrm>
          <a:prstGeom prst="rect">
            <a:avLst/>
          </a:prstGeom>
        </p:spPr>
      </p:pic>
    </p:spTree>
    <p:extLst>
      <p:ext uri="{BB962C8B-B14F-4D97-AF65-F5344CB8AC3E}">
        <p14:creationId xmlns:p14="http://schemas.microsoft.com/office/powerpoint/2010/main" val="1718405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81056-8263-640C-722B-8394F0C36D5D}"/>
              </a:ext>
            </a:extLst>
          </p:cNvPr>
          <p:cNvSpPr>
            <a:spLocks noGrp="1"/>
          </p:cNvSpPr>
          <p:nvPr>
            <p:ph type="title"/>
          </p:nvPr>
        </p:nvSpPr>
        <p:spPr>
          <a:xfrm>
            <a:off x="2270991" y="1016000"/>
            <a:ext cx="7650018" cy="610033"/>
          </a:xfrm>
        </p:spPr>
        <p:txBody>
          <a:bodyPr>
            <a:normAutofit/>
          </a:bodyPr>
          <a:lstStyle/>
          <a:p>
            <a:r>
              <a:rPr lang="en-IN" sz="2800" dirty="0">
                <a:latin typeface="Times New Roman" panose="02020603050405020304" pitchFamily="18" charset="0"/>
                <a:cs typeface="Times New Roman" panose="02020603050405020304" pitchFamily="18" charset="0"/>
              </a:rPr>
              <a:t>11. </a:t>
            </a:r>
            <a:r>
              <a:rPr lang="en-US" sz="2800" dirty="0">
                <a:latin typeface="Times New Roman" panose="02020603050405020304" pitchFamily="18" charset="0"/>
                <a:cs typeface="Times New Roman" panose="02020603050405020304" pitchFamily="18" charset="0"/>
              </a:rPr>
              <a:t>Which positions require the most qualifications?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317F24E-96D8-AFE0-153D-AAB1884CAE95}"/>
              </a:ext>
            </a:extLst>
          </p:cNvPr>
          <p:cNvPicPr>
            <a:picLocks noChangeAspect="1"/>
          </p:cNvPicPr>
          <p:nvPr/>
        </p:nvPicPr>
        <p:blipFill>
          <a:blip r:embed="rId2"/>
          <a:stretch>
            <a:fillRect/>
          </a:stretch>
        </p:blipFill>
        <p:spPr>
          <a:xfrm>
            <a:off x="1527031" y="2179059"/>
            <a:ext cx="4371975" cy="1114425"/>
          </a:xfrm>
          <a:prstGeom prst="rect">
            <a:avLst/>
          </a:prstGeom>
        </p:spPr>
      </p:pic>
      <p:pic>
        <p:nvPicPr>
          <p:cNvPr id="4" name="Picture 3">
            <a:extLst>
              <a:ext uri="{FF2B5EF4-FFF2-40B4-BE49-F238E27FC236}">
                <a16:creationId xmlns:a16="http://schemas.microsoft.com/office/drawing/2014/main" id="{525E195C-525C-B08D-2066-5A724ED69C5F}"/>
              </a:ext>
            </a:extLst>
          </p:cNvPr>
          <p:cNvPicPr>
            <a:picLocks noChangeAspect="1"/>
          </p:cNvPicPr>
          <p:nvPr/>
        </p:nvPicPr>
        <p:blipFill>
          <a:blip r:embed="rId3"/>
          <a:stretch>
            <a:fillRect/>
          </a:stretch>
        </p:blipFill>
        <p:spPr>
          <a:xfrm>
            <a:off x="6974753" y="3293484"/>
            <a:ext cx="3267075" cy="2548516"/>
          </a:xfrm>
          <a:prstGeom prst="rect">
            <a:avLst/>
          </a:prstGeom>
        </p:spPr>
      </p:pic>
    </p:spTree>
    <p:extLst>
      <p:ext uri="{BB962C8B-B14F-4D97-AF65-F5344CB8AC3E}">
        <p14:creationId xmlns:p14="http://schemas.microsoft.com/office/powerpoint/2010/main" val="1931541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A4765-FC17-0851-78C7-20786EA025A0}"/>
              </a:ext>
            </a:extLst>
          </p:cNvPr>
          <p:cNvSpPr>
            <a:spLocks noGrp="1"/>
          </p:cNvSpPr>
          <p:nvPr>
            <p:ph type="title"/>
          </p:nvPr>
        </p:nvSpPr>
        <p:spPr>
          <a:xfrm>
            <a:off x="1476664" y="1237673"/>
            <a:ext cx="9441872" cy="526906"/>
          </a:xfrm>
        </p:spPr>
        <p:txBody>
          <a:bodyPr>
            <a:normAutofit/>
          </a:bodyPr>
          <a:lstStyle/>
          <a:p>
            <a:r>
              <a:rPr lang="en-IN" sz="2800" dirty="0">
                <a:latin typeface="Times New Roman" panose="02020603050405020304" pitchFamily="18" charset="0"/>
                <a:cs typeface="Times New Roman" panose="02020603050405020304" pitchFamily="18" charset="0"/>
              </a:rPr>
              <a:t>12. </a:t>
            </a:r>
            <a:r>
              <a:rPr lang="en-US" sz="2800" dirty="0">
                <a:latin typeface="Times New Roman" panose="02020603050405020304" pitchFamily="18" charset="0"/>
                <a:cs typeface="Times New Roman" panose="02020603050405020304" pitchFamily="18" charset="0"/>
              </a:rPr>
              <a:t>Which employees have the highest number of qualifications?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E91B9AE-D783-F4FB-C65E-95ECD540D706}"/>
              </a:ext>
            </a:extLst>
          </p:cNvPr>
          <p:cNvPicPr>
            <a:picLocks noChangeAspect="1"/>
          </p:cNvPicPr>
          <p:nvPr/>
        </p:nvPicPr>
        <p:blipFill>
          <a:blip r:embed="rId2"/>
          <a:stretch>
            <a:fillRect/>
          </a:stretch>
        </p:blipFill>
        <p:spPr>
          <a:xfrm>
            <a:off x="6522316" y="3777673"/>
            <a:ext cx="4171950" cy="2339398"/>
          </a:xfrm>
          <a:prstGeom prst="rect">
            <a:avLst/>
          </a:prstGeom>
        </p:spPr>
      </p:pic>
      <p:pic>
        <p:nvPicPr>
          <p:cNvPr id="4" name="Picture 3">
            <a:extLst>
              <a:ext uri="{FF2B5EF4-FFF2-40B4-BE49-F238E27FC236}">
                <a16:creationId xmlns:a16="http://schemas.microsoft.com/office/drawing/2014/main" id="{3DCD0702-D104-5773-4CB1-24CB89500A4D}"/>
              </a:ext>
            </a:extLst>
          </p:cNvPr>
          <p:cNvPicPr>
            <a:picLocks noChangeAspect="1"/>
          </p:cNvPicPr>
          <p:nvPr/>
        </p:nvPicPr>
        <p:blipFill>
          <a:blip r:embed="rId3"/>
          <a:stretch>
            <a:fillRect/>
          </a:stretch>
        </p:blipFill>
        <p:spPr>
          <a:xfrm>
            <a:off x="1226416" y="2105025"/>
            <a:ext cx="3790950" cy="2647950"/>
          </a:xfrm>
          <a:prstGeom prst="rect">
            <a:avLst/>
          </a:prstGeom>
        </p:spPr>
      </p:pic>
    </p:spTree>
    <p:extLst>
      <p:ext uri="{BB962C8B-B14F-4D97-AF65-F5344CB8AC3E}">
        <p14:creationId xmlns:p14="http://schemas.microsoft.com/office/powerpoint/2010/main" val="4263434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6F9CE-AC25-520E-946B-D888E654F395}"/>
              </a:ext>
            </a:extLst>
          </p:cNvPr>
          <p:cNvSpPr>
            <a:spLocks noGrp="1"/>
          </p:cNvSpPr>
          <p:nvPr>
            <p:ph type="title"/>
          </p:nvPr>
        </p:nvSpPr>
        <p:spPr>
          <a:xfrm>
            <a:off x="838200" y="665018"/>
            <a:ext cx="10515600" cy="757382"/>
          </a:xfrm>
        </p:spPr>
        <p:txBody>
          <a:bodyPr>
            <a:normAutofit/>
          </a:bodyPr>
          <a:lstStyle/>
          <a:p>
            <a:r>
              <a:rPr lang="en-IN" sz="4000" b="1" dirty="0">
                <a:solidFill>
                  <a:srgbClr val="FF0000"/>
                </a:solidFill>
                <a:latin typeface="Times New Roman" panose="02020603050405020304" pitchFamily="18" charset="0"/>
                <a:cs typeface="Times New Roman" panose="02020603050405020304" pitchFamily="18" charset="0"/>
              </a:rPr>
              <a:t>LEAVE AND ABSENCE PATTERNS</a:t>
            </a:r>
          </a:p>
        </p:txBody>
      </p:sp>
      <p:sp>
        <p:nvSpPr>
          <p:cNvPr id="3" name="TextBox 2">
            <a:extLst>
              <a:ext uri="{FF2B5EF4-FFF2-40B4-BE49-F238E27FC236}">
                <a16:creationId xmlns:a16="http://schemas.microsoft.com/office/drawing/2014/main" id="{FE990DC7-036D-E25D-B08E-BB8B772A15AE}"/>
              </a:ext>
            </a:extLst>
          </p:cNvPr>
          <p:cNvSpPr txBox="1"/>
          <p:nvPr/>
        </p:nvSpPr>
        <p:spPr>
          <a:xfrm>
            <a:off x="2068945" y="1810327"/>
            <a:ext cx="845127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13. Which year had the most employees taking leaves?</a:t>
            </a:r>
            <a:endParaRPr lang="en-IN"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ECF2B4A-40D2-CB67-0791-19DED2721C6C}"/>
              </a:ext>
            </a:extLst>
          </p:cNvPr>
          <p:cNvPicPr>
            <a:picLocks noChangeAspect="1"/>
          </p:cNvPicPr>
          <p:nvPr/>
        </p:nvPicPr>
        <p:blipFill>
          <a:blip r:embed="rId2"/>
          <a:stretch>
            <a:fillRect/>
          </a:stretch>
        </p:blipFill>
        <p:spPr>
          <a:xfrm>
            <a:off x="1538432" y="2721474"/>
            <a:ext cx="2987386" cy="1802980"/>
          </a:xfrm>
          <a:prstGeom prst="rect">
            <a:avLst/>
          </a:prstGeom>
        </p:spPr>
      </p:pic>
      <p:pic>
        <p:nvPicPr>
          <p:cNvPr id="5" name="Picture 4">
            <a:extLst>
              <a:ext uri="{FF2B5EF4-FFF2-40B4-BE49-F238E27FC236}">
                <a16:creationId xmlns:a16="http://schemas.microsoft.com/office/drawing/2014/main" id="{06EE2197-DE83-57DF-D3E5-CB7CF6AB6687}"/>
              </a:ext>
            </a:extLst>
          </p:cNvPr>
          <p:cNvPicPr>
            <a:picLocks noChangeAspect="1"/>
          </p:cNvPicPr>
          <p:nvPr/>
        </p:nvPicPr>
        <p:blipFill>
          <a:blip r:embed="rId3"/>
          <a:stretch>
            <a:fillRect/>
          </a:stretch>
        </p:blipFill>
        <p:spPr>
          <a:xfrm>
            <a:off x="6844145" y="4415927"/>
            <a:ext cx="2835276" cy="1199782"/>
          </a:xfrm>
          <a:prstGeom prst="rect">
            <a:avLst/>
          </a:prstGeom>
        </p:spPr>
      </p:pic>
    </p:spTree>
    <p:extLst>
      <p:ext uri="{BB962C8B-B14F-4D97-AF65-F5344CB8AC3E}">
        <p14:creationId xmlns:p14="http://schemas.microsoft.com/office/powerpoint/2010/main" val="1555257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216CE-856F-21F7-314B-A1671701B16F}"/>
              </a:ext>
            </a:extLst>
          </p:cNvPr>
          <p:cNvSpPr>
            <a:spLocks noGrp="1"/>
          </p:cNvSpPr>
          <p:nvPr>
            <p:ph type="title"/>
          </p:nvPr>
        </p:nvSpPr>
        <p:spPr>
          <a:xfrm>
            <a:off x="1524000" y="1265381"/>
            <a:ext cx="9765146" cy="794761"/>
          </a:xfrm>
        </p:spPr>
        <p:txBody>
          <a:bodyPr>
            <a:normAutofit fontScale="90000"/>
          </a:bodyPr>
          <a:lstStyle/>
          <a:p>
            <a:r>
              <a:rPr lang="en-IN" sz="2800" dirty="0">
                <a:latin typeface="Times New Roman" panose="02020603050405020304" pitchFamily="18" charset="0"/>
                <a:cs typeface="Times New Roman" panose="02020603050405020304" pitchFamily="18" charset="0"/>
              </a:rPr>
              <a:t>14. </a:t>
            </a:r>
            <a:r>
              <a:rPr lang="en-US" sz="2800" dirty="0">
                <a:latin typeface="Times New Roman" panose="02020603050405020304" pitchFamily="18" charset="0"/>
                <a:cs typeface="Times New Roman" panose="02020603050405020304" pitchFamily="18" charset="0"/>
              </a:rPr>
              <a:t>What is the average number of leave days taken by its employees per department?</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68DFEF8D-EF4B-4B08-36CC-FDF1722F1D2F}"/>
              </a:ext>
            </a:extLst>
          </p:cNvPr>
          <p:cNvPicPr>
            <a:picLocks noChangeAspect="1"/>
          </p:cNvPicPr>
          <p:nvPr/>
        </p:nvPicPr>
        <p:blipFill>
          <a:blip r:embed="rId2"/>
          <a:stretch>
            <a:fillRect/>
          </a:stretch>
        </p:blipFill>
        <p:spPr>
          <a:xfrm>
            <a:off x="1035193" y="2506952"/>
            <a:ext cx="5743575" cy="2143125"/>
          </a:xfrm>
          <a:prstGeom prst="rect">
            <a:avLst/>
          </a:prstGeom>
        </p:spPr>
      </p:pic>
      <p:pic>
        <p:nvPicPr>
          <p:cNvPr id="4" name="Picture 3">
            <a:extLst>
              <a:ext uri="{FF2B5EF4-FFF2-40B4-BE49-F238E27FC236}">
                <a16:creationId xmlns:a16="http://schemas.microsoft.com/office/drawing/2014/main" id="{41942589-43AC-9B13-3367-D9D3B1B948B2}"/>
              </a:ext>
            </a:extLst>
          </p:cNvPr>
          <p:cNvPicPr>
            <a:picLocks noChangeAspect="1"/>
          </p:cNvPicPr>
          <p:nvPr/>
        </p:nvPicPr>
        <p:blipFill>
          <a:blip r:embed="rId3"/>
          <a:stretch>
            <a:fillRect/>
          </a:stretch>
        </p:blipFill>
        <p:spPr>
          <a:xfrm>
            <a:off x="7657378" y="3888364"/>
            <a:ext cx="2714625" cy="2295525"/>
          </a:xfrm>
          <a:prstGeom prst="rect">
            <a:avLst/>
          </a:prstGeom>
        </p:spPr>
      </p:pic>
    </p:spTree>
    <p:extLst>
      <p:ext uri="{BB962C8B-B14F-4D97-AF65-F5344CB8AC3E}">
        <p14:creationId xmlns:p14="http://schemas.microsoft.com/office/powerpoint/2010/main" val="25633350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4219C-62BC-06C9-0980-5316A2A37489}"/>
              </a:ext>
            </a:extLst>
          </p:cNvPr>
          <p:cNvSpPr>
            <a:spLocks noGrp="1"/>
          </p:cNvSpPr>
          <p:nvPr>
            <p:ph type="title"/>
          </p:nvPr>
        </p:nvSpPr>
        <p:spPr>
          <a:xfrm>
            <a:off x="2418773" y="1154546"/>
            <a:ext cx="7354454" cy="508433"/>
          </a:xfrm>
        </p:spPr>
        <p:txBody>
          <a:bodyPr>
            <a:normAutofit/>
          </a:bodyPr>
          <a:lstStyle/>
          <a:p>
            <a:r>
              <a:rPr lang="en-IN" sz="2800" dirty="0">
                <a:latin typeface="Times New Roman" panose="02020603050405020304" pitchFamily="18" charset="0"/>
                <a:cs typeface="Times New Roman" panose="02020603050405020304" pitchFamily="18" charset="0"/>
              </a:rPr>
              <a:t>15. </a:t>
            </a:r>
            <a:r>
              <a:rPr lang="en-US" sz="2800" dirty="0">
                <a:latin typeface="Times New Roman" panose="02020603050405020304" pitchFamily="18" charset="0"/>
                <a:cs typeface="Times New Roman" panose="02020603050405020304" pitchFamily="18" charset="0"/>
              </a:rPr>
              <a:t>Which employees have taken the most leaves?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DE6CEB0-313E-54DA-6B0B-933EB386D879}"/>
              </a:ext>
            </a:extLst>
          </p:cNvPr>
          <p:cNvPicPr>
            <a:picLocks noChangeAspect="1"/>
          </p:cNvPicPr>
          <p:nvPr/>
        </p:nvPicPr>
        <p:blipFill>
          <a:blip r:embed="rId2"/>
          <a:stretch>
            <a:fillRect/>
          </a:stretch>
        </p:blipFill>
        <p:spPr>
          <a:xfrm>
            <a:off x="1313728" y="2063894"/>
            <a:ext cx="5038725" cy="2009775"/>
          </a:xfrm>
          <a:prstGeom prst="rect">
            <a:avLst/>
          </a:prstGeom>
        </p:spPr>
      </p:pic>
      <p:pic>
        <p:nvPicPr>
          <p:cNvPr id="4" name="Picture 3">
            <a:extLst>
              <a:ext uri="{FF2B5EF4-FFF2-40B4-BE49-F238E27FC236}">
                <a16:creationId xmlns:a16="http://schemas.microsoft.com/office/drawing/2014/main" id="{2D068C43-A0EF-08AE-A426-0C06EA433C5A}"/>
              </a:ext>
            </a:extLst>
          </p:cNvPr>
          <p:cNvPicPr>
            <a:picLocks noChangeAspect="1"/>
          </p:cNvPicPr>
          <p:nvPr/>
        </p:nvPicPr>
        <p:blipFill>
          <a:blip r:embed="rId3"/>
          <a:stretch>
            <a:fillRect/>
          </a:stretch>
        </p:blipFill>
        <p:spPr>
          <a:xfrm>
            <a:off x="7211291" y="3748953"/>
            <a:ext cx="3200400" cy="2352675"/>
          </a:xfrm>
          <a:prstGeom prst="rect">
            <a:avLst/>
          </a:prstGeom>
        </p:spPr>
      </p:pic>
    </p:spTree>
    <p:extLst>
      <p:ext uri="{BB962C8B-B14F-4D97-AF65-F5344CB8AC3E}">
        <p14:creationId xmlns:p14="http://schemas.microsoft.com/office/powerpoint/2010/main" val="2851438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542A5-0777-AF82-BE40-C48D99AEB198}"/>
              </a:ext>
            </a:extLst>
          </p:cNvPr>
          <p:cNvSpPr>
            <a:spLocks noGrp="1"/>
          </p:cNvSpPr>
          <p:nvPr>
            <p:ph type="title"/>
          </p:nvPr>
        </p:nvSpPr>
        <p:spPr>
          <a:xfrm>
            <a:off x="1475509" y="1376218"/>
            <a:ext cx="9423400" cy="526906"/>
          </a:xfrm>
        </p:spPr>
        <p:txBody>
          <a:bodyPr>
            <a:normAutofit/>
          </a:bodyPr>
          <a:lstStyle/>
          <a:p>
            <a:r>
              <a:rPr lang="en-IN" sz="2800" dirty="0">
                <a:latin typeface="Times New Roman" panose="02020603050405020304" pitchFamily="18" charset="0"/>
                <a:cs typeface="Times New Roman" panose="02020603050405020304" pitchFamily="18" charset="0"/>
              </a:rPr>
              <a:t>16. </a:t>
            </a:r>
            <a:r>
              <a:rPr lang="en-US" sz="2800" dirty="0">
                <a:latin typeface="Times New Roman" panose="02020603050405020304" pitchFamily="18" charset="0"/>
                <a:cs typeface="Times New Roman" panose="02020603050405020304" pitchFamily="18" charset="0"/>
              </a:rPr>
              <a:t>What is the total number of leave days taken company-wide?</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8C5755F-242B-05CC-3936-2DE2BADD8D62}"/>
              </a:ext>
            </a:extLst>
          </p:cNvPr>
          <p:cNvPicPr>
            <a:picLocks noChangeAspect="1"/>
          </p:cNvPicPr>
          <p:nvPr/>
        </p:nvPicPr>
        <p:blipFill>
          <a:blip r:embed="rId2"/>
          <a:stretch>
            <a:fillRect/>
          </a:stretch>
        </p:blipFill>
        <p:spPr>
          <a:xfrm>
            <a:off x="1275050" y="2625437"/>
            <a:ext cx="3555569" cy="912090"/>
          </a:xfrm>
          <a:prstGeom prst="rect">
            <a:avLst/>
          </a:prstGeom>
        </p:spPr>
      </p:pic>
      <p:pic>
        <p:nvPicPr>
          <p:cNvPr id="4" name="Picture 3">
            <a:extLst>
              <a:ext uri="{FF2B5EF4-FFF2-40B4-BE49-F238E27FC236}">
                <a16:creationId xmlns:a16="http://schemas.microsoft.com/office/drawing/2014/main" id="{D104A649-5560-CFE0-AEAB-A4C87831553F}"/>
              </a:ext>
            </a:extLst>
          </p:cNvPr>
          <p:cNvPicPr>
            <a:picLocks noChangeAspect="1"/>
          </p:cNvPicPr>
          <p:nvPr/>
        </p:nvPicPr>
        <p:blipFill>
          <a:blip r:embed="rId3"/>
          <a:stretch>
            <a:fillRect/>
          </a:stretch>
        </p:blipFill>
        <p:spPr>
          <a:xfrm>
            <a:off x="6579323" y="3537527"/>
            <a:ext cx="2287586" cy="1163782"/>
          </a:xfrm>
          <a:prstGeom prst="rect">
            <a:avLst/>
          </a:prstGeom>
        </p:spPr>
      </p:pic>
    </p:spTree>
    <p:extLst>
      <p:ext uri="{BB962C8B-B14F-4D97-AF65-F5344CB8AC3E}">
        <p14:creationId xmlns:p14="http://schemas.microsoft.com/office/powerpoint/2010/main" val="1934599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CC734-A7B6-813C-5E30-909050087CF1}"/>
              </a:ext>
            </a:extLst>
          </p:cNvPr>
          <p:cNvSpPr>
            <a:spLocks noGrp="1"/>
          </p:cNvSpPr>
          <p:nvPr>
            <p:ph type="title"/>
          </p:nvPr>
        </p:nvSpPr>
        <p:spPr>
          <a:xfrm>
            <a:off x="1676399" y="1293090"/>
            <a:ext cx="8557491" cy="545379"/>
          </a:xfrm>
        </p:spPr>
        <p:txBody>
          <a:bodyPr>
            <a:normAutofit/>
          </a:bodyPr>
          <a:lstStyle/>
          <a:p>
            <a:r>
              <a:rPr lang="en-IN" sz="2800" dirty="0">
                <a:latin typeface="Times New Roman" panose="02020603050405020304" pitchFamily="18" charset="0"/>
                <a:cs typeface="Times New Roman" panose="02020603050405020304" pitchFamily="18" charset="0"/>
              </a:rPr>
              <a:t>17. </a:t>
            </a:r>
            <a:r>
              <a:rPr lang="en-US" sz="2800" dirty="0">
                <a:latin typeface="Times New Roman" panose="02020603050405020304" pitchFamily="18" charset="0"/>
                <a:cs typeface="Times New Roman" panose="02020603050405020304" pitchFamily="18" charset="0"/>
              </a:rPr>
              <a:t>How do leave days correlate with payroll amounts?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C407B67-2AAA-FDE8-512F-2AD76CDD5610}"/>
              </a:ext>
            </a:extLst>
          </p:cNvPr>
          <p:cNvPicPr>
            <a:picLocks noChangeAspect="1"/>
          </p:cNvPicPr>
          <p:nvPr/>
        </p:nvPicPr>
        <p:blipFill>
          <a:blip r:embed="rId2"/>
          <a:stretch>
            <a:fillRect/>
          </a:stretch>
        </p:blipFill>
        <p:spPr>
          <a:xfrm>
            <a:off x="1268989" y="2206048"/>
            <a:ext cx="4943475" cy="2686050"/>
          </a:xfrm>
          <a:prstGeom prst="rect">
            <a:avLst/>
          </a:prstGeom>
        </p:spPr>
      </p:pic>
      <p:pic>
        <p:nvPicPr>
          <p:cNvPr id="4" name="Picture 3">
            <a:extLst>
              <a:ext uri="{FF2B5EF4-FFF2-40B4-BE49-F238E27FC236}">
                <a16:creationId xmlns:a16="http://schemas.microsoft.com/office/drawing/2014/main" id="{F8892CF1-D799-4BEA-7D46-F47B9DEBF7F5}"/>
              </a:ext>
            </a:extLst>
          </p:cNvPr>
          <p:cNvPicPr>
            <a:picLocks noChangeAspect="1"/>
          </p:cNvPicPr>
          <p:nvPr/>
        </p:nvPicPr>
        <p:blipFill>
          <a:blip r:embed="rId3"/>
          <a:stretch>
            <a:fillRect/>
          </a:stretch>
        </p:blipFill>
        <p:spPr>
          <a:xfrm>
            <a:off x="7100599" y="3549073"/>
            <a:ext cx="4105275" cy="2457450"/>
          </a:xfrm>
          <a:prstGeom prst="rect">
            <a:avLst/>
          </a:prstGeom>
        </p:spPr>
      </p:pic>
    </p:spTree>
    <p:extLst>
      <p:ext uri="{BB962C8B-B14F-4D97-AF65-F5344CB8AC3E}">
        <p14:creationId xmlns:p14="http://schemas.microsoft.com/office/powerpoint/2010/main" val="5233689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2FF2-1FE0-E067-727B-C23FE2C63EE1}"/>
              </a:ext>
            </a:extLst>
          </p:cNvPr>
          <p:cNvSpPr>
            <a:spLocks noGrp="1"/>
          </p:cNvSpPr>
          <p:nvPr>
            <p:ph type="title"/>
          </p:nvPr>
        </p:nvSpPr>
        <p:spPr>
          <a:xfrm>
            <a:off x="838200" y="665018"/>
            <a:ext cx="10515600" cy="1025670"/>
          </a:xfrm>
        </p:spPr>
        <p:txBody>
          <a:bodyPr>
            <a:normAutofit fontScale="90000"/>
          </a:bodyPr>
          <a:lstStyle/>
          <a:p>
            <a:r>
              <a:rPr lang="en-IN" sz="4000" b="1" dirty="0">
                <a:solidFill>
                  <a:srgbClr val="FF0000"/>
                </a:solidFill>
                <a:latin typeface="Times New Roman" panose="02020603050405020304" pitchFamily="18" charset="0"/>
                <a:cs typeface="Times New Roman" panose="02020603050405020304" pitchFamily="18" charset="0"/>
              </a:rPr>
              <a:t>PAYROLL AND COMPENSATION ANALYSIS</a:t>
            </a:r>
          </a:p>
        </p:txBody>
      </p:sp>
      <p:sp>
        <p:nvSpPr>
          <p:cNvPr id="4" name="TextBox 3">
            <a:extLst>
              <a:ext uri="{FF2B5EF4-FFF2-40B4-BE49-F238E27FC236}">
                <a16:creationId xmlns:a16="http://schemas.microsoft.com/office/drawing/2014/main" id="{CBB98EDB-759C-F749-7925-0CA400B52E9D}"/>
              </a:ext>
            </a:extLst>
          </p:cNvPr>
          <p:cNvSpPr txBox="1"/>
          <p:nvPr/>
        </p:nvSpPr>
        <p:spPr>
          <a:xfrm>
            <a:off x="1967345" y="1791855"/>
            <a:ext cx="895927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18. What is the total monthly payroll processed?</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6F07806-95D2-5CD5-868A-C9C733505490}"/>
              </a:ext>
            </a:extLst>
          </p:cNvPr>
          <p:cNvPicPr>
            <a:picLocks noChangeAspect="1"/>
          </p:cNvPicPr>
          <p:nvPr/>
        </p:nvPicPr>
        <p:blipFill>
          <a:blip r:embed="rId2"/>
          <a:stretch>
            <a:fillRect/>
          </a:stretch>
        </p:blipFill>
        <p:spPr>
          <a:xfrm>
            <a:off x="1414462" y="2860386"/>
            <a:ext cx="4746193" cy="806450"/>
          </a:xfrm>
          <a:prstGeom prst="rect">
            <a:avLst/>
          </a:prstGeom>
        </p:spPr>
      </p:pic>
      <p:pic>
        <p:nvPicPr>
          <p:cNvPr id="6" name="Picture 5">
            <a:extLst>
              <a:ext uri="{FF2B5EF4-FFF2-40B4-BE49-F238E27FC236}">
                <a16:creationId xmlns:a16="http://schemas.microsoft.com/office/drawing/2014/main" id="{30B1ED4F-58BF-67E4-8E06-D66B414DDBA2}"/>
              </a:ext>
            </a:extLst>
          </p:cNvPr>
          <p:cNvPicPr>
            <a:picLocks noChangeAspect="1"/>
          </p:cNvPicPr>
          <p:nvPr/>
        </p:nvPicPr>
        <p:blipFill>
          <a:blip r:embed="rId3"/>
          <a:stretch>
            <a:fillRect/>
          </a:stretch>
        </p:blipFill>
        <p:spPr>
          <a:xfrm>
            <a:off x="6973598" y="3953858"/>
            <a:ext cx="3241820" cy="1178135"/>
          </a:xfrm>
          <a:prstGeom prst="rect">
            <a:avLst/>
          </a:prstGeom>
        </p:spPr>
      </p:pic>
    </p:spTree>
    <p:extLst>
      <p:ext uri="{BB962C8B-B14F-4D97-AF65-F5344CB8AC3E}">
        <p14:creationId xmlns:p14="http://schemas.microsoft.com/office/powerpoint/2010/main" val="1259879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4C0FB-D4F6-D9AA-BBFE-1FBE2DA43AC9}"/>
              </a:ext>
            </a:extLst>
          </p:cNvPr>
          <p:cNvSpPr>
            <a:spLocks noGrp="1"/>
          </p:cNvSpPr>
          <p:nvPr>
            <p:ph type="title"/>
          </p:nvPr>
        </p:nvSpPr>
        <p:spPr>
          <a:xfrm>
            <a:off x="2066636" y="1413163"/>
            <a:ext cx="8231910" cy="434543"/>
          </a:xfrm>
        </p:spPr>
        <p:txBody>
          <a:bodyPr>
            <a:noAutofit/>
          </a:bodyPr>
          <a:lstStyle/>
          <a:p>
            <a:r>
              <a:rPr lang="en-IN" sz="2800" dirty="0">
                <a:latin typeface="Times New Roman" panose="02020603050405020304" pitchFamily="18" charset="0"/>
                <a:cs typeface="Times New Roman" panose="02020603050405020304" pitchFamily="18" charset="0"/>
              </a:rPr>
              <a:t>19. </a:t>
            </a:r>
            <a:r>
              <a:rPr lang="en-US" sz="2800" dirty="0">
                <a:latin typeface="Times New Roman" panose="02020603050405020304" pitchFamily="18" charset="0"/>
                <a:cs typeface="Times New Roman" panose="02020603050405020304" pitchFamily="18" charset="0"/>
              </a:rPr>
              <a:t>What is the average bonus given per department?</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4DF57C6-53EC-3ED4-2057-0EB97C2779B9}"/>
              </a:ext>
            </a:extLst>
          </p:cNvPr>
          <p:cNvPicPr>
            <a:picLocks noChangeAspect="1"/>
          </p:cNvPicPr>
          <p:nvPr/>
        </p:nvPicPr>
        <p:blipFill>
          <a:blip r:embed="rId2"/>
          <a:stretch>
            <a:fillRect/>
          </a:stretch>
        </p:blipFill>
        <p:spPr>
          <a:xfrm>
            <a:off x="1662112" y="2419350"/>
            <a:ext cx="3990975" cy="2019300"/>
          </a:xfrm>
          <a:prstGeom prst="rect">
            <a:avLst/>
          </a:prstGeom>
        </p:spPr>
      </p:pic>
      <p:pic>
        <p:nvPicPr>
          <p:cNvPr id="4" name="Picture 3">
            <a:extLst>
              <a:ext uri="{FF2B5EF4-FFF2-40B4-BE49-F238E27FC236}">
                <a16:creationId xmlns:a16="http://schemas.microsoft.com/office/drawing/2014/main" id="{D86894D9-B800-568D-07B8-1511EBE1101A}"/>
              </a:ext>
            </a:extLst>
          </p:cNvPr>
          <p:cNvPicPr>
            <a:picLocks noChangeAspect="1"/>
          </p:cNvPicPr>
          <p:nvPr/>
        </p:nvPicPr>
        <p:blipFill>
          <a:blip r:embed="rId3"/>
          <a:stretch>
            <a:fillRect/>
          </a:stretch>
        </p:blipFill>
        <p:spPr>
          <a:xfrm>
            <a:off x="7314189" y="3891251"/>
            <a:ext cx="2809875" cy="2105025"/>
          </a:xfrm>
          <a:prstGeom prst="rect">
            <a:avLst/>
          </a:prstGeom>
        </p:spPr>
      </p:pic>
    </p:spTree>
    <p:extLst>
      <p:ext uri="{BB962C8B-B14F-4D97-AF65-F5344CB8AC3E}">
        <p14:creationId xmlns:p14="http://schemas.microsoft.com/office/powerpoint/2010/main" val="3811724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87C16-933E-34D7-D05D-8D39DFC9DB32}"/>
              </a:ext>
            </a:extLst>
          </p:cNvPr>
          <p:cNvSpPr>
            <a:spLocks noGrp="1"/>
          </p:cNvSpPr>
          <p:nvPr>
            <p:ph type="title"/>
          </p:nvPr>
        </p:nvSpPr>
        <p:spPr>
          <a:xfrm>
            <a:off x="1595581" y="1256146"/>
            <a:ext cx="8776855" cy="526906"/>
          </a:xfrm>
        </p:spPr>
        <p:txBody>
          <a:bodyPr>
            <a:normAutofit/>
          </a:bodyPr>
          <a:lstStyle/>
          <a:p>
            <a:r>
              <a:rPr lang="en-IN" sz="2800" dirty="0">
                <a:latin typeface="Times New Roman" panose="02020603050405020304" pitchFamily="18" charset="0"/>
                <a:cs typeface="Times New Roman" panose="02020603050405020304" pitchFamily="18" charset="0"/>
              </a:rPr>
              <a:t>20. </a:t>
            </a:r>
            <a:r>
              <a:rPr lang="en-US" sz="2800" dirty="0">
                <a:latin typeface="Times New Roman" panose="02020603050405020304" pitchFamily="18" charset="0"/>
                <a:cs typeface="Times New Roman" panose="02020603050405020304" pitchFamily="18" charset="0"/>
              </a:rPr>
              <a:t>Which department receives the highest total bonuses?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F1A5E81-35BC-6F12-FAE8-BF5B88A3B8BB}"/>
              </a:ext>
            </a:extLst>
          </p:cNvPr>
          <p:cNvPicPr>
            <a:picLocks noChangeAspect="1"/>
          </p:cNvPicPr>
          <p:nvPr/>
        </p:nvPicPr>
        <p:blipFill>
          <a:blip r:embed="rId2"/>
          <a:stretch>
            <a:fillRect/>
          </a:stretch>
        </p:blipFill>
        <p:spPr>
          <a:xfrm>
            <a:off x="1270865" y="2380817"/>
            <a:ext cx="3905250" cy="1819275"/>
          </a:xfrm>
          <a:prstGeom prst="rect">
            <a:avLst/>
          </a:prstGeom>
        </p:spPr>
      </p:pic>
      <p:pic>
        <p:nvPicPr>
          <p:cNvPr id="4" name="Picture 3">
            <a:extLst>
              <a:ext uri="{FF2B5EF4-FFF2-40B4-BE49-F238E27FC236}">
                <a16:creationId xmlns:a16="http://schemas.microsoft.com/office/drawing/2014/main" id="{1368D734-EC2C-0570-1C01-0E4E06577664}"/>
              </a:ext>
            </a:extLst>
          </p:cNvPr>
          <p:cNvPicPr>
            <a:picLocks noChangeAspect="1"/>
          </p:cNvPicPr>
          <p:nvPr/>
        </p:nvPicPr>
        <p:blipFill>
          <a:blip r:embed="rId3"/>
          <a:stretch>
            <a:fillRect/>
          </a:stretch>
        </p:blipFill>
        <p:spPr>
          <a:xfrm>
            <a:off x="7363979" y="4300393"/>
            <a:ext cx="2814493" cy="1010516"/>
          </a:xfrm>
          <a:prstGeom prst="rect">
            <a:avLst/>
          </a:prstGeom>
        </p:spPr>
      </p:pic>
    </p:spTree>
    <p:extLst>
      <p:ext uri="{BB962C8B-B14F-4D97-AF65-F5344CB8AC3E}">
        <p14:creationId xmlns:p14="http://schemas.microsoft.com/office/powerpoint/2010/main" val="2861908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10B26-E5E1-8B34-BDDA-887746B6286A}"/>
              </a:ext>
            </a:extLst>
          </p:cNvPr>
          <p:cNvSpPr>
            <a:spLocks noGrp="1"/>
          </p:cNvSpPr>
          <p:nvPr>
            <p:ph type="title"/>
          </p:nvPr>
        </p:nvSpPr>
        <p:spPr>
          <a:xfrm>
            <a:off x="1641764" y="1256144"/>
            <a:ext cx="9783618" cy="822470"/>
          </a:xfrm>
        </p:spPr>
        <p:txBody>
          <a:bodyPr>
            <a:normAutofit fontScale="90000"/>
          </a:bodyPr>
          <a:lstStyle/>
          <a:p>
            <a:r>
              <a:rPr lang="en-IN" sz="2800" dirty="0">
                <a:latin typeface="Times New Roman" panose="02020603050405020304" pitchFamily="18" charset="0"/>
                <a:cs typeface="Times New Roman" panose="02020603050405020304" pitchFamily="18" charset="0"/>
              </a:rPr>
              <a:t>21. </a:t>
            </a:r>
            <a:r>
              <a:rPr lang="en-US" sz="2800" dirty="0">
                <a:latin typeface="Times New Roman" panose="02020603050405020304" pitchFamily="18" charset="0"/>
                <a:cs typeface="Times New Roman" panose="02020603050405020304" pitchFamily="18" charset="0"/>
              </a:rPr>
              <a:t>What is the average value of </a:t>
            </a:r>
            <a:r>
              <a:rPr lang="en-US" sz="2800" dirty="0" err="1">
                <a:latin typeface="Times New Roman" panose="02020603050405020304" pitchFamily="18" charset="0"/>
                <a:cs typeface="Times New Roman" panose="02020603050405020304" pitchFamily="18" charset="0"/>
              </a:rPr>
              <a:t>total_amount</a:t>
            </a:r>
            <a:r>
              <a:rPr lang="en-US" sz="2800" dirty="0">
                <a:latin typeface="Times New Roman" panose="02020603050405020304" pitchFamily="18" charset="0"/>
                <a:cs typeface="Times New Roman" panose="02020603050405020304" pitchFamily="18" charset="0"/>
              </a:rPr>
              <a:t> after considering leave deductions?</a:t>
            </a: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8FBADD7-AA32-B31B-5BC7-0D4374B222F3}"/>
              </a:ext>
            </a:extLst>
          </p:cNvPr>
          <p:cNvPicPr>
            <a:picLocks noChangeAspect="1"/>
          </p:cNvPicPr>
          <p:nvPr/>
        </p:nvPicPr>
        <p:blipFill>
          <a:blip r:embed="rId2"/>
          <a:stretch>
            <a:fillRect/>
          </a:stretch>
        </p:blipFill>
        <p:spPr>
          <a:xfrm>
            <a:off x="1171719" y="2653145"/>
            <a:ext cx="4139190" cy="939799"/>
          </a:xfrm>
          <a:prstGeom prst="rect">
            <a:avLst/>
          </a:prstGeom>
        </p:spPr>
      </p:pic>
      <p:pic>
        <p:nvPicPr>
          <p:cNvPr id="4" name="Picture 3">
            <a:extLst>
              <a:ext uri="{FF2B5EF4-FFF2-40B4-BE49-F238E27FC236}">
                <a16:creationId xmlns:a16="http://schemas.microsoft.com/office/drawing/2014/main" id="{D585C774-5675-27C2-DFCC-E6A99C688D18}"/>
              </a:ext>
            </a:extLst>
          </p:cNvPr>
          <p:cNvPicPr>
            <a:picLocks noChangeAspect="1"/>
          </p:cNvPicPr>
          <p:nvPr/>
        </p:nvPicPr>
        <p:blipFill>
          <a:blip r:embed="rId3"/>
          <a:stretch>
            <a:fillRect/>
          </a:stretch>
        </p:blipFill>
        <p:spPr>
          <a:xfrm>
            <a:off x="6803736" y="3731202"/>
            <a:ext cx="3263900" cy="1201015"/>
          </a:xfrm>
          <a:prstGeom prst="rect">
            <a:avLst/>
          </a:prstGeom>
        </p:spPr>
      </p:pic>
    </p:spTree>
    <p:extLst>
      <p:ext uri="{BB962C8B-B14F-4D97-AF65-F5344CB8AC3E}">
        <p14:creationId xmlns:p14="http://schemas.microsoft.com/office/powerpoint/2010/main" val="5177942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2" name="TextBox 1">
            <a:extLst>
              <a:ext uri="{FF2B5EF4-FFF2-40B4-BE49-F238E27FC236}">
                <a16:creationId xmlns:a16="http://schemas.microsoft.com/office/drawing/2014/main" id="{A407BC59-6F7F-C043-13F5-84D74E58CC6A}"/>
              </a:ext>
            </a:extLst>
          </p:cNvPr>
          <p:cNvSpPr txBox="1"/>
          <p:nvPr/>
        </p:nvSpPr>
        <p:spPr>
          <a:xfrm>
            <a:off x="3472873" y="2743200"/>
            <a:ext cx="6216073" cy="1200329"/>
          </a:xfrm>
          <a:prstGeom prst="rect">
            <a:avLst/>
          </a:prstGeom>
          <a:noFill/>
        </p:spPr>
        <p:txBody>
          <a:bodyPr wrap="square" rtlCol="0">
            <a:spAutoFit/>
          </a:bodyPr>
          <a:lstStyle/>
          <a:p>
            <a:r>
              <a:rPr lang="en-IN" sz="7200"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1233</TotalTime>
  <Words>542</Words>
  <Application>Microsoft Office PowerPoint</Application>
  <PresentationFormat>Widescreen</PresentationFormat>
  <Paragraphs>50</Paragraphs>
  <Slides>28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Calibri</vt:lpstr>
      <vt:lpstr>Arial</vt:lpstr>
      <vt:lpstr>Times New Roman</vt:lpstr>
      <vt:lpstr>Office Theme</vt:lpstr>
      <vt:lpstr>PowerPoint Presentation</vt:lpstr>
      <vt:lpstr>Introduction:</vt:lpstr>
      <vt:lpstr>Tables</vt:lpstr>
      <vt:lpstr>Tables</vt:lpstr>
      <vt:lpstr>ER Diagram</vt:lpstr>
      <vt:lpstr>Problem Statement</vt:lpstr>
      <vt:lpstr>EMPLOYEE INSIGHTS</vt:lpstr>
      <vt:lpstr>2. Which departments have the highest number of employees?</vt:lpstr>
      <vt:lpstr>3.What is the average salary per department?</vt:lpstr>
      <vt:lpstr>4. Who are the top 5 highest-paid employees?</vt:lpstr>
      <vt:lpstr>5.What is the total salary expenditure across the company?</vt:lpstr>
      <vt:lpstr>JOB ROLE AND DEPARTMENT ANALYSIS</vt:lpstr>
      <vt:lpstr>7. What is the average salary range per department?</vt:lpstr>
      <vt:lpstr>8. Which job roles offer the highest salary?</vt:lpstr>
      <vt:lpstr>9. Which departments have the highest total salary allocation?</vt:lpstr>
      <vt:lpstr>QUALIFICATION AND SKILLS ANALYSIS</vt:lpstr>
      <vt:lpstr>11. Which positions require the most qualifications?</vt:lpstr>
      <vt:lpstr>12. Which employees have the highest number of qualifications?</vt:lpstr>
      <vt:lpstr>LEAVE AND ABSENCE PATTERNS</vt:lpstr>
      <vt:lpstr>14. What is the average number of leave days taken by its employees per department?</vt:lpstr>
      <vt:lpstr>15. Which employees have taken the most leaves?</vt:lpstr>
      <vt:lpstr>16. What is the total number of leave days taken company-wide?</vt:lpstr>
      <vt:lpstr>17. How do leave days correlate with payroll amounts?</vt:lpstr>
      <vt:lpstr>PAYROLL AND COMPENSATION ANALYSIS</vt:lpstr>
      <vt:lpstr>19. What is the average bonus given per department?</vt:lpstr>
      <vt:lpstr>20. Which department receives the highest total bonuses?</vt:lpstr>
      <vt:lpstr>21. What is the average value of total_amount after considering leave deductions?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dharanigavini30@outlook.com</cp:lastModifiedBy>
  <cp:revision>51</cp:revision>
  <dcterms:created xsi:type="dcterms:W3CDTF">2021-02-16T05:19:01Z</dcterms:created>
  <dcterms:modified xsi:type="dcterms:W3CDTF">2025-11-25T10:47:54Z</dcterms:modified>
</cp:coreProperties>
</file>